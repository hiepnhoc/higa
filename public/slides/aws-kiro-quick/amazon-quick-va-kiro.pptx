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029c63e-783d-e436-3edf-876f3726cf1d}">
          <p14:sldIdLst>
            <p14:sldId id="256"/>
            <p14:sldId id="257"/>
            <p14:sldId id="258"/>
          </p14:sldIdLst>
        </p14:section>
        <p14:section name="Amazon Quick" id="{02aaab32-681b-7cca-e256-2c4f7fc51906}">
          <p14:sldIdLst>
            <p14:sldId id="259"/>
            <p14:sldId id="260"/>
            <p14:sldId id="261"/>
            <p14:sldId id="262"/>
            <p14:sldId id="263"/>
            <p14:sldId id="264"/>
            <p14:sldId id="265"/>
            <p14:sldId id="266"/>
            <p14:sldId id="267"/>
            <p14:sldId id="268"/>
          </p14:sldIdLst>
        </p14:section>
        <p14:section name="Kiro" id="{7a68ef89-7b03-e083-8f38-a410060b7e3f}">
          <p14:sldIdLst>
            <p14:sldId id="269"/>
            <p14:sldId id="270"/>
            <p14:sldId id="271"/>
            <p14:sldId id="272"/>
            <p14:sldId id="273"/>
            <p14:sldId id="274"/>
            <p14:sldId id="275"/>
            <p14:sldId id="276"/>
            <p14:sldId id="277"/>
            <p14:sldId id="278"/>
            <p14:sldId id="279"/>
            <p14:sldId id="280"/>
            <p14:sldId id="281"/>
            <p14:sldId id="282"/>
            <p14:sldId id="283"/>
          </p14:sldIdLst>
        </p14:section>
        <p14:section name="Demo và tham khảo" id="{29a8bc2f-c06a-7a2d-a780-c2299dd23521}">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giới thiệu hai sản phẩm AI agent của AWS. Số liệu lấy từ tài liệu chính thức của AWS và Kiro tại thời điểm 10/2026, nguồn ghi ở cuối mỗi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sản phẩm cùng hướng dùng AI agent để làm việc, nhưng khác đối tượng. Quick phát triển từ QuickSight nên dashboard cũ vẫn dùng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dòng trong bảng có một slide riêng phía sau, kèm các trường hợp sử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sẻ Space không tự cấp quyền xem dashboard bên trong; quyền của từng tài nguyên giữ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 không ghi rõ file chat có được index hay không. Docs chỉ nói index capacity tính cho file tải lên Space và dữ liệu knowledge base, còn file chat bị xoá cùng cuộc chat. Nên nói: muốn hỏi lại nhiều lần, dùng chung thì đưa vào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chat: chat trả lời ngay, Research chạy nhiều bước và trả về tài liệu dùng lại được. Nguồn trả phí như FactSet chỉ dùng được nếu công ty đã mua dữ liệu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đã gặp: Quick Sight có lấy dữ liệu từ Space không? Không. File trong Space chỉ để agent đọc. Muốn vẽ từ Excel thì tải file đó lên làm dataset. Database trong mạng nội bộ cần VPC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Flows: Flows cho việc đơn giản của cá nhân hoặc nhóm. Automate cho quy trình xuyên phòng ban, có rẽ nhánh, người duyệt, theo dõi. Automate có trong gói Professional và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Cập nhật 9/2026: agent có thể chạy theo lịch trên cloud khi tắt máy, kết quả trả về feed; có tích hợp Microsoft Purview DLP. Giá có thể thay đổi, kiểm tra trang pricing trước khi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session chạy trên cloud của Kiro; Kiro Crew chạy trên máy hoặc server do mình quản lý. Nếu bị hỏi "code có ra ngoài không" thì hai trường hợp trả lời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số credit cho biết mỗi prompt tốn bao nhiêu so với Auto. Ví dụ Opus 5.5 tốn gấp đôi Auto, Qwen3 Coder Next chỉ bằng 5%. Việc thường ngày dùng Auto; việc khó (kiến trúc, refactor lớn) chọn Opus hoặc GPT-5.6 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demo chính: nhập yêu cầu, dừng ở requirements.md để mọi người cùng đọc tiêu chí chấp nhận, duyệt, rồi sang design và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hiểu steering như một knowledge base thu gọn của dự án, nhưng viết dưới dạng quy tắc để agent làm theo, và luôn được nạp sẵn thay vì tra cứu khi cần. Tài liệu dài thì để chỗ khác và tham chiếu bằng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trong bài giới thiệu của Kiro: chiều thứ Sáu có sự cố latency, người dùng nhắn cho Crew tìm lại cách xử lý lần trước, viết lại và gửi cho đồng nghiệp, rồi về nghỉ.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Crew chạy nền nên vẫn nhận việc khi không ngồi trước máy; nhưng máy tắt thì Crew cũng dừng. Muốn chạy 24/7 thì đặt Crew trên VM hoặc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hàng rào đặt quanh agent khi chạy trên máy: model quyết định làm gì, harness (Crew) quyết định có được làm hay không. Các lớp chặn chạy bằng code nên không phụ thuộc model có "nghe lời" hay không, kể cả khi model bị lừa qua nội dung lạ. Trước khi cho Crew truy cập repo hoặc hệ thống của khách hàng, cần thống nhất về quyền truy cập và nơi chạy 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1971446"/>
            <a:ext cx="10570464" cy="700430"/>
          </a:xfrm>
          <a:prstGeom prst="rect">
            <a:avLst/>
          </a:prstGeom>
          <a:noFill/>
          <a:ln/>
        </p:spPr>
        <p:txBody>
          <a:bodyPr wrap="square" lIns="0" tIns="0" rIns="0" bIns="0" rtlCol="0" anchor="t"/>
          <a:lstStyle/>
          <a:p>
            <a:pPr algn="l" indent="0" marL="0">
              <a:lnSpc>
                <a:spcPct val="100000"/>
              </a:lnSpc>
              <a:buNone/>
            </a:pPr>
            <a:r>
              <a:rPr lang="en-US" sz="4050" b="1" dirty="0">
                <a:solidFill>
                  <a:srgbClr val="1D2433"/>
                </a:solidFill>
                <a:latin typeface="Arial" pitchFamily="34" charset="0"/>
                <a:ea typeface="Arial" pitchFamily="34" charset="-122"/>
                <a:cs typeface="Arial" pitchFamily="34" charset="-120"/>
              </a:rPr>
              <a:t>Amazon Quick và Kiro</a:t>
            </a:r>
            <a:endParaRPr lang="en-US" sz="4050" dirty="0"/>
          </a:p>
        </p:txBody>
      </p:sp>
      <p:sp>
        <p:nvSpPr>
          <p:cNvPr id="3" name="Text 1"/>
          <p:cNvSpPr txBox="1"/>
          <p:nvPr/>
        </p:nvSpPr>
        <p:spPr>
          <a:xfrm>
            <a:off x="914400" y="2734056"/>
            <a:ext cx="10570464" cy="422453"/>
          </a:xfrm>
          <a:prstGeom prst="rect">
            <a:avLst/>
          </a:prstGeom>
          <a:noFill/>
          <a:ln/>
        </p:spPr>
        <p:txBody>
          <a:bodyPr wrap="square" lIns="0" tIns="0" rIns="0" bIns="0" rtlCol="0" anchor="t"/>
          <a:lstStyle/>
          <a:p>
            <a:pPr algn="l" indent="0" marL="0">
              <a:lnSpc>
                <a:spcPct val="130000"/>
              </a:lnSpc>
              <a:buNone/>
            </a:pPr>
            <a:r>
              <a:rPr lang="en-US" sz="1800" dirty="0">
                <a:solidFill>
                  <a:srgbClr val="3D4659"/>
                </a:solidFill>
                <a:latin typeface="Arial" pitchFamily="34" charset="0"/>
                <a:ea typeface="Arial" pitchFamily="34" charset="-122"/>
                <a:cs typeface="Arial" pitchFamily="34" charset="-120"/>
              </a:rPr>
              <a:t>Giới thiệu tính năng và các trường hợp sử dụng</a:t>
            </a:r>
            <a:endParaRPr lang="en-US" sz="1800" dirty="0"/>
          </a:p>
        </p:txBody>
      </p:sp>
      <p:sp>
        <p:nvSpPr>
          <p:cNvPr id="4" name="Text 2"/>
          <p:cNvSpPr txBox="1"/>
          <p:nvPr/>
        </p:nvSpPr>
        <p:spPr>
          <a:xfrm>
            <a:off x="914400" y="3610051"/>
            <a:ext cx="10570464" cy="816559"/>
          </a:xfrm>
          <a:prstGeom prst="rect">
            <a:avLst/>
          </a:prstGeom>
          <a:noFill/>
          <a:ln/>
        </p:spPr>
        <p:txBody>
          <a:bodyPr wrap="square" lIns="0" tIns="0" rIns="0" bIns="0" rtlCol="0" anchor="t"/>
          <a:lstStyle/>
          <a:p>
            <a:pPr algn="l" indent="0" marL="0">
              <a:lnSpc>
                <a:spcPct val="130000"/>
              </a:lnSpc>
              <a:buNone/>
            </a:pPr>
            <a:r>
              <a:rPr lang="en-US" sz="1350" dirty="0">
                <a:solidFill>
                  <a:srgbClr val="6B7489"/>
                </a:solidFill>
                <a:latin typeface="Arial" pitchFamily="34" charset="0"/>
                <a:ea typeface="Arial" pitchFamily="34" charset="-122"/>
                <a:cs typeface="Arial" pitchFamily="34" charset="-120"/>
              </a:rPr>
              <a:t>CloudNexus</a:t>
            </a:r>
            <a:endParaRPr lang="en-US" sz="1350" dirty="0"/>
          </a:p>
          <a:p>
            <a:pPr algn="l" indent="0" marL="0">
              <a:lnSpc>
                <a:spcPct val="130000"/>
              </a:lnSpc>
              <a:buNone/>
            </a:pPr>
            <a:r>
              <a:rPr lang="en-US" sz="1350" dirty="0">
                <a:solidFill>
                  <a:srgbClr val="6B7489"/>
                </a:solidFill>
                <a:latin typeface="Arial" pitchFamily="34" charset="0"/>
                <a:ea typeface="Arial" pitchFamily="34" charset="-122"/>
                <a:cs typeface="Arial" pitchFamily="34" charset="-120"/>
              </a:rPr>
              <a:t>Tháng 10/2026</a:t>
            </a:r>
            <a:endParaRPr lang="en-US" sz="1350" dirty="0"/>
          </a:p>
        </p:txBody>
      </p:sp>
      <p:sp>
        <p:nvSpPr>
          <p:cNvPr id="5" name="Text 3"/>
          <p:cNvSpPr txBox="1"/>
          <p:nvPr/>
        </p:nvSpPr>
        <p:spPr>
          <a:xfrm>
            <a:off x="914400" y="4686300"/>
            <a:ext cx="10570464" cy="262433"/>
          </a:xfrm>
          <a:prstGeom prst="rect">
            <a:avLst/>
          </a:prstGeom>
          <a:noFill/>
          <a:ln/>
        </p:spPr>
        <p:txBody>
          <a:bodyPr wrap="square" lIns="0" tIns="0" rIns="0" bIns="0" rtlCol="0" anchor="t"/>
          <a:lstStyle/>
          <a:p>
            <a:pPr algn="l" indent="0" marL="0">
              <a:lnSpc>
                <a:spcPct val="130000"/>
              </a:lnSpc>
              <a:buNone/>
            </a:pPr>
            <a:r>
              <a:rPr lang="en-US" sz="1050" dirty="0">
                <a:solidFill>
                  <a:srgbClr val="6B7489"/>
                </a:solidFill>
                <a:latin typeface="Arial" pitchFamily="34" charset="0"/>
                <a:ea typeface="Arial" pitchFamily="34" charset="-122"/>
                <a:cs typeface="Arial" pitchFamily="34" charset="-120"/>
              </a:rPr>
              <a:t>Phím ← → để chuyển slide, N để xem ghi chú, F để toàn màn hình.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Nội dung</a:t>
            </a:r>
            <a:endParaRPr lang="en-US" sz="2550" dirty="0"/>
          </a:p>
        </p:txBody>
      </p:sp>
      <p:sp>
        <p:nvSpPr>
          <p:cNvPr id="3" name="Text 1"/>
          <p:cNvSpPr txBox="1"/>
          <p:nvPr/>
        </p:nvSpPr>
        <p:spPr>
          <a:xfrm>
            <a:off x="685800" y="1150315"/>
            <a:ext cx="11036808" cy="3398825"/>
          </a:xfrm>
          <a:prstGeom prst="rect">
            <a:avLst/>
          </a:prstGeom>
          <a:noFill/>
          <a:ln/>
        </p:spPr>
        <p:txBody>
          <a:bodyPr wrap="square" lIns="0" tIns="0" rIns="0" bIns="0" rtlCol="0" anchor="t"/>
          <a:lstStyle/>
          <a:p>
            <a:pPr algn="l" indent="0" marL="0">
              <a:lnSpc>
                <a:spcPct val="113000"/>
              </a:lnSpc>
              <a:buNone/>
            </a:pPr>
            <a:r>
              <a:rPr lang="en-US" sz="1800" dirty="0">
                <a:solidFill>
                  <a:srgbClr val="6B7489"/>
                </a:solidFill>
                <a:latin typeface="Arial" pitchFamily="34" charset="0"/>
                <a:ea typeface="Arial" pitchFamily="34" charset="-122"/>
                <a:cs typeface="Arial" pitchFamily="34" charset="-120"/>
              </a:rPr>
              <a:t>1.   </a:t>
            </a:r>
            <a:pPr algn="l" indent="0" marL="0">
              <a:lnSpc>
                <a:spcPct val="113000"/>
              </a:lnSpc>
              <a:buNone/>
            </a:pPr>
            <a:r>
              <a:rPr lang="en-US" sz="1800" dirty="0">
                <a:solidFill>
                  <a:srgbClr val="1D2433"/>
                </a:solidFill>
                <a:latin typeface="Arial" pitchFamily="34" charset="0"/>
                <a:ea typeface="Arial" pitchFamily="34" charset="-122"/>
                <a:cs typeface="Arial" pitchFamily="34" charset="-120"/>
              </a:rPr>
              <a:t>Tổng quan</a:t>
            </a:r>
            <a:pPr algn="l" indent="0" marL="0">
              <a:lnSpc>
                <a:spcPct val="113000"/>
              </a:lnSpc>
              <a:buNone/>
            </a:pPr>
            <a:r>
              <a:rPr lang="en-US" sz="1280" dirty="0">
                <a:solidFill>
                  <a:srgbClr val="6B7489"/>
                </a:solidFill>
                <a:latin typeface="Arial" pitchFamily="34" charset="0"/>
                <a:ea typeface="Arial" pitchFamily="34" charset="-122"/>
                <a:cs typeface="Arial" pitchFamily="34" charset="-120"/>
              </a:rPr>
              <a:t>   Quick và Kiro khác nhau thế nào</a:t>
            </a:r>
            <a:endParaRPr lang="en-US" sz="1800" dirty="0"/>
          </a:p>
          <a:p>
            <a:pPr algn="l" indent="0" marL="0">
              <a:lnSpc>
                <a:spcPct val="113000"/>
              </a:lnSpc>
              <a:buNone/>
            </a:pPr>
            <a:r>
              <a:rPr lang="en-US" sz="1800" dirty="0">
                <a:solidFill>
                  <a:srgbClr val="6B7489"/>
                </a:solidFill>
                <a:latin typeface="Arial" pitchFamily="34" charset="0"/>
                <a:ea typeface="Arial" pitchFamily="34" charset="-122"/>
                <a:cs typeface="Arial" pitchFamily="34" charset="-120"/>
              </a:rPr>
              <a:t>2.   </a:t>
            </a:r>
            <a:pPr algn="l" indent="0" marL="0">
              <a:lnSpc>
                <a:spcPct val="113000"/>
              </a:lnSpc>
              <a:buNone/>
            </a:pPr>
            <a:r>
              <a:rPr lang="en-US" sz="1800" dirty="0">
                <a:solidFill>
                  <a:srgbClr val="1D2433"/>
                </a:solidFill>
                <a:latin typeface="Arial" pitchFamily="34" charset="0"/>
                <a:ea typeface="Arial" pitchFamily="34" charset="-122"/>
                <a:cs typeface="Arial" pitchFamily="34" charset="-120"/>
              </a:rPr>
              <a:t>Amazon Quick</a:t>
            </a:r>
            <a:pPr algn="l" indent="0" marL="0">
              <a:lnSpc>
                <a:spcPct val="113000"/>
              </a:lnSpc>
              <a:buNone/>
            </a:pPr>
            <a:r>
              <a:rPr lang="en-US" sz="1280" dirty="0">
                <a:solidFill>
                  <a:srgbClr val="6B7489"/>
                </a:solidFill>
                <a:latin typeface="Arial" pitchFamily="34" charset="0"/>
                <a:ea typeface="Arial" pitchFamily="34" charset="-122"/>
                <a:cs typeface="Arial" pitchFamily="34" charset="-120"/>
              </a:rPr>
              <a:t>   Chat, Spaces, Index, Research, Sight, Flows, Automate</a:t>
            </a:r>
            <a:endParaRPr lang="en-US" sz="1800" dirty="0"/>
          </a:p>
          <a:p>
            <a:pPr algn="l" indent="0" marL="0">
              <a:lnSpc>
                <a:spcPct val="113000"/>
              </a:lnSpc>
              <a:buNone/>
            </a:pPr>
            <a:r>
              <a:rPr lang="en-US" sz="1800" dirty="0">
                <a:solidFill>
                  <a:srgbClr val="6B7489"/>
                </a:solidFill>
                <a:latin typeface="Arial" pitchFamily="34" charset="0"/>
                <a:ea typeface="Arial" pitchFamily="34" charset="-122"/>
                <a:cs typeface="Arial" pitchFamily="34" charset="-120"/>
              </a:rPr>
              <a:t>3.   </a:t>
            </a:r>
            <a:pPr algn="l" indent="0" marL="0">
              <a:lnSpc>
                <a:spcPct val="113000"/>
              </a:lnSpc>
              <a:buNone/>
            </a:pPr>
            <a:r>
              <a:rPr lang="en-US" sz="1800" dirty="0">
                <a:solidFill>
                  <a:srgbClr val="1D2433"/>
                </a:solidFill>
                <a:latin typeface="Arial" pitchFamily="34" charset="0"/>
                <a:ea typeface="Arial" pitchFamily="34" charset="-122"/>
                <a:cs typeface="Arial" pitchFamily="34" charset="-120"/>
              </a:rPr>
              <a:t>Kiro</a:t>
            </a:r>
            <a:pPr algn="l" indent="0" marL="0">
              <a:lnSpc>
                <a:spcPct val="113000"/>
              </a:lnSpc>
              <a:buNone/>
            </a:pPr>
            <a:r>
              <a:rPr lang="en-US" sz="1280" dirty="0">
                <a:solidFill>
                  <a:srgbClr val="6B7489"/>
                </a:solidFill>
                <a:latin typeface="Arial" pitchFamily="34" charset="0"/>
                <a:ea typeface="Arial" pitchFamily="34" charset="-122"/>
                <a:cs typeface="Arial" pitchFamily="34" charset="-120"/>
              </a:rPr>
              <a:t>   Kiro IDE, Kiro CLI, Kiro Crew</a:t>
            </a:r>
            <a:endParaRPr lang="en-US" sz="1800" dirty="0"/>
          </a:p>
          <a:p>
            <a:pPr algn="l" indent="0" marL="0">
              <a:lnSpc>
                <a:spcPct val="113000"/>
              </a:lnSpc>
              <a:buNone/>
            </a:pPr>
            <a:r>
              <a:rPr lang="en-US" sz="1800" dirty="0">
                <a:solidFill>
                  <a:srgbClr val="6B7489"/>
                </a:solidFill>
                <a:latin typeface="Arial" pitchFamily="34" charset="0"/>
                <a:ea typeface="Arial" pitchFamily="34" charset="-122"/>
                <a:cs typeface="Arial" pitchFamily="34" charset="-120"/>
              </a:rPr>
              <a:t>4.   </a:t>
            </a:r>
            <a:pPr algn="l" indent="0" marL="0">
              <a:lnSpc>
                <a:spcPct val="113000"/>
              </a:lnSpc>
              <a:buNone/>
            </a:pPr>
            <a:r>
              <a:rPr lang="en-US" sz="1800" dirty="0">
                <a:solidFill>
                  <a:srgbClr val="1D2433"/>
                </a:solidFill>
                <a:latin typeface="Arial" pitchFamily="34" charset="0"/>
                <a:ea typeface="Arial" pitchFamily="34" charset="-122"/>
                <a:cs typeface="Arial" pitchFamily="34" charset="-120"/>
              </a:rPr>
              <a:t>Demo</a:t>
            </a:r>
            <a:endParaRPr lang="en-US" sz="1800" dirty="0"/>
          </a:p>
          <a:p>
            <a:pPr algn="l" indent="0" marL="0">
              <a:lnSpc>
                <a:spcPct val="113000"/>
              </a:lnSpc>
              <a:buNone/>
            </a:pPr>
            <a:r>
              <a:rPr lang="en-US" sz="1800" dirty="0">
                <a:solidFill>
                  <a:srgbClr val="6B7489"/>
                </a:solidFill>
                <a:latin typeface="Arial" pitchFamily="34" charset="0"/>
                <a:ea typeface="Arial" pitchFamily="34" charset="-122"/>
                <a:cs typeface="Arial" pitchFamily="34" charset="-120"/>
              </a:rPr>
              <a:t>5.   </a:t>
            </a:r>
            <a:pPr algn="l" indent="0" marL="0">
              <a:lnSpc>
                <a:spcPct val="113000"/>
              </a:lnSpc>
              <a:buNone/>
            </a:pPr>
            <a:r>
              <a:rPr lang="en-US" sz="1800" dirty="0">
                <a:solidFill>
                  <a:srgbClr val="1D2433"/>
                </a:solidFill>
                <a:latin typeface="Arial" pitchFamily="34" charset="0"/>
                <a:ea typeface="Arial" pitchFamily="34" charset="-122"/>
                <a:cs typeface="Arial" pitchFamily="34" charset="-120"/>
              </a:rPr>
              <a:t>Hỏi đáp</a:t>
            </a:r>
            <a:endParaRPr lang="en-US" sz="1800" dirty="0"/>
          </a:p>
        </p:txBody>
      </p:sp>
      <p:sp>
        <p:nvSpPr>
          <p:cNvPr id="4" name="Text 2"/>
          <p:cNvSpPr txBox="1"/>
          <p:nvPr/>
        </p:nvSpPr>
        <p:spPr>
          <a:xfrm>
            <a:off x="10590581" y="6515100"/>
            <a:ext cx="934517"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 / 30</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Tổng quan</a:t>
            </a:r>
            <a:endParaRPr lang="en-US" sz="25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150315"/>
          <a:ext cx="10820095" cy="914400"/>
        </p:xfrm>
        <a:graphic>
          <a:graphicData uri="http://schemas.openxmlformats.org/drawingml/2006/table">
            <a:tbl>
              <a:tblPr/>
              <a:tblGrid>
                <a:gridCol w="1904695"/>
                <a:gridCol w="5078578"/>
                <a:gridCol w="3836822"/>
              </a:tblGrid>
              <a:tr h="403250">
                <a:tc>
                  <a:txBody>
                    <a:bodyPr/>
                    <a:lstStyle/>
                    <a:p>
                      <a:pPr algn="l"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Amazon Quick</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Làm gì</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Trả lời câu hỏi từ dữ liệu công ty, nghiên cứu, làm báo cáo, tự động hoá công việc trên các ứng dụng</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Lập kế hoạch và viết code bằng AI agent, từ yêu cầu đến code đã kiểm thử</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Ra mắt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9/10/2025 (tên Quick Suite), phát triển từ Amazon QuickSight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Bản preview 7/2025. Kiro Crew ra mắt 4/8/2026</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Hình thức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Dịch vụ web, desktop app, extension trình duyệt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IDE, CLI, Web, ứng dụng di động, Kiro Crew</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Gói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Free, Plus, Professional, Enterprise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Có gói miễn phí. Kiro Crew là mã nguồn mở</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sp>
        <p:nvSpPr>
          <p:cNvPr id="4" name="Text 1"/>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 News Blog (09/10/2025); aws.amazon.com/quick/faqs; kiro.dev/ide; kiro.dev/blog/introducing-kiro-crew</a:t>
            </a:r>
            <a:endParaRPr lang="en-US" sz="940" dirty="0"/>
          </a:p>
        </p:txBody>
      </p:sp>
      <p:sp>
        <p:nvSpPr>
          <p:cNvPr id="5" name="Text 2"/>
          <p:cNvSpPr txBox="1"/>
          <p:nvPr/>
        </p:nvSpPr>
        <p:spPr>
          <a:xfrm>
            <a:off x="10589666" y="6515100"/>
            <a:ext cx="93543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3 / 30</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2745943"/>
            <a:ext cx="10570464" cy="326441"/>
          </a:xfrm>
          <a:prstGeom prst="rect">
            <a:avLst/>
          </a:prstGeom>
          <a:noFill/>
          <a:ln/>
        </p:spPr>
        <p:txBody>
          <a:bodyPr wrap="square" lIns="0" tIns="0" rIns="0" bIns="0" rtlCol="0" anchor="t"/>
          <a:lstStyle/>
          <a:p>
            <a:pPr algn="l" indent="0" marL="0">
              <a:lnSpc>
                <a:spcPct val="130000"/>
              </a:lnSpc>
              <a:buNone/>
            </a:pPr>
            <a:r>
              <a:rPr lang="en-US" sz="1350" b="1" dirty="0">
                <a:solidFill>
                  <a:srgbClr val="B85F00"/>
                </a:solidFill>
                <a:latin typeface="Arial" pitchFamily="34" charset="0"/>
                <a:ea typeface="Arial" pitchFamily="34" charset="-122"/>
                <a:cs typeface="Arial" pitchFamily="34" charset="-120"/>
              </a:rPr>
              <a:t>Phần 1</a:t>
            </a:r>
            <a:endParaRPr lang="en-US" sz="1350" dirty="0"/>
          </a:p>
        </p:txBody>
      </p:sp>
      <p:sp>
        <p:nvSpPr>
          <p:cNvPr id="3" name="Text 1"/>
          <p:cNvSpPr txBox="1"/>
          <p:nvPr/>
        </p:nvSpPr>
        <p:spPr>
          <a:xfrm>
            <a:off x="914400" y="3097987"/>
            <a:ext cx="10570464" cy="651967"/>
          </a:xfrm>
          <a:prstGeom prst="rect">
            <a:avLst/>
          </a:prstGeom>
          <a:noFill/>
          <a:ln/>
        </p:spPr>
        <p:txBody>
          <a:bodyPr wrap="square" lIns="0" tIns="0" rIns="0" bIns="0" rtlCol="0" anchor="t"/>
          <a:lstStyle/>
          <a:p>
            <a:pPr algn="l" indent="0" marL="0">
              <a:lnSpc>
                <a:spcPct val="100000"/>
              </a:lnSpc>
              <a:buNone/>
            </a:pPr>
            <a:r>
              <a:rPr lang="en-US" sz="3750" b="1" dirty="0">
                <a:solidFill>
                  <a:srgbClr val="1D2433"/>
                </a:solidFill>
                <a:latin typeface="Arial" pitchFamily="34" charset="0"/>
                <a:ea typeface="Arial" pitchFamily="34" charset="-122"/>
                <a:cs typeface="Arial" pitchFamily="34" charset="-120"/>
              </a:rPr>
              <a:t>Amazon Quick</a:t>
            </a:r>
            <a:endParaRPr lang="en-US" sz="3750" dirty="0"/>
          </a:p>
        </p:txBody>
      </p:sp>
      <p:sp>
        <p:nvSpPr>
          <p:cNvPr id="4" name="Text 2"/>
          <p:cNvSpPr txBox="1"/>
          <p:nvPr/>
        </p:nvSpPr>
        <p:spPr>
          <a:xfrm>
            <a:off x="914400" y="3798418"/>
            <a:ext cx="10570464" cy="390449"/>
          </a:xfrm>
          <a:prstGeom prst="rect">
            <a:avLst/>
          </a:prstGeom>
          <a:noFill/>
          <a:ln/>
        </p:spPr>
        <p:txBody>
          <a:bodyPr wrap="square" lIns="0" tIns="0" rIns="0" bIns="0" rtlCol="0" anchor="t"/>
          <a:lstStyle/>
          <a:p>
            <a:pPr algn="l" indent="0" marL="0">
              <a:lnSpc>
                <a:spcPct val="130000"/>
              </a:lnSpc>
              <a:buNone/>
            </a:pPr>
            <a:r>
              <a:rPr lang="en-US" sz="1650" dirty="0">
                <a:solidFill>
                  <a:srgbClr val="3D4659"/>
                </a:solidFill>
                <a:latin typeface="Arial" pitchFamily="34" charset="0"/>
                <a:ea typeface="Arial" pitchFamily="34" charset="-122"/>
                <a:cs typeface="Arial" pitchFamily="34" charset="-120"/>
              </a:rPr>
              <a:t>Trợ lý AI cho công việc: hỏi đáp, nghiên cứu, báo cáo, tự động hoá</a:t>
            </a:r>
            <a:endParaRPr lang="en-US" sz="1650" dirty="0"/>
          </a:p>
        </p:txBody>
      </p:sp>
      <p:sp>
        <p:nvSpPr>
          <p:cNvPr id="5" name="Text 3"/>
          <p:cNvSpPr txBox="1"/>
          <p:nvPr/>
        </p:nvSpPr>
        <p:spPr>
          <a:xfrm>
            <a:off x="10586009" y="6515100"/>
            <a:ext cx="939089"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4 / 30</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053682" y="1150315"/>
            <a:ext cx="4453128" cy="4888382"/>
          </a:xfrm>
          <a:prstGeom prst="roundRect">
            <a:avLst>
              <a:gd name="adj" fmla="val 1232"/>
            </a:avLst>
          </a:prstGeom>
          <a:solidFill>
            <a:srgbClr val="F3F4F7"/>
          </a:solidFill>
          <a:ln w="9525">
            <a:solidFill>
              <a:srgbClr val="D9DCE4"/>
            </a:solidFill>
            <a:prstDash val="solid"/>
          </a:ln>
        </p:spPr>
      </p:sp>
      <p:sp>
        <p:nvSpPr>
          <p:cNvPr id="3" name="Text 1"/>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Amazon Quick là gì</a:t>
            </a:r>
            <a:endParaRPr lang="en-US" sz="2550" dirty="0"/>
          </a:p>
        </p:txBody>
      </p:sp>
      <p:sp>
        <p:nvSpPr>
          <p:cNvPr id="5" name="Text 3"/>
          <p:cNvSpPr txBox="1"/>
          <p:nvPr/>
        </p:nvSpPr>
        <p:spPr>
          <a:xfrm>
            <a:off x="685800" y="1150315"/>
            <a:ext cx="6144768" cy="731520"/>
          </a:xfrm>
          <a:prstGeom prst="rect">
            <a:avLst/>
          </a:prstGeom>
          <a:noFill/>
          <a:ln/>
        </p:spPr>
        <p:txBody>
          <a:bodyPr wrap="square" lIns="0" tIns="0" rIns="0" bIns="0" rtlCol="0" anchor="t"/>
          <a:lstStyle/>
          <a:p>
            <a:pPr algn="l" indent="0" marL="0">
              <a:lnSpc>
                <a:spcPct val="130000"/>
              </a:lnSpc>
              <a:buNone/>
            </a:pPr>
            <a:r>
              <a:rPr lang="en-US" sz="1430" i="1" dirty="0">
                <a:solidFill>
                  <a:srgbClr val="1D2433"/>
                </a:solidFill>
                <a:latin typeface="Arial" pitchFamily="34" charset="0"/>
                <a:ea typeface="Arial" pitchFamily="34" charset="-122"/>
                <a:cs typeface="Arial" pitchFamily="34" charset="-120"/>
              </a:rPr>
              <a:t>"An AI assistant for work that turns questions into answers", và có thể thực hiện hành động như đặt lịch họp, theo dõi đầu việc.</a:t>
            </a:r>
            <a:endParaRPr lang="en-US" sz="143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902866"/>
          <a:ext cx="6024067" cy="914400"/>
        </p:xfrm>
        <a:graphic>
          <a:graphicData uri="http://schemas.openxmlformats.org/drawingml/2006/table">
            <a:tbl>
              <a:tblPr/>
              <a:tblGrid>
                <a:gridCol w="1809598"/>
                <a:gridCol w="4214470"/>
              </a:tblGrid>
              <a:tr h="403250">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Chat, Apps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Hỏi đáp, tạo tài liệu, tạo app nhỏ không cần code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Spaces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Không gian chung của nhóm: tài liệu, dữ liệu, agent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Quick Index</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Index chạy nền cho tài liệu trong Space và knowledge base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Quick Research</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Nghiên cứu nhiều nguồn, báo cáo có trích dẫn</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Quick Sight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Dashboard, hỏi số liệu bằng câu tự nhiên</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Quick Flows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Tự động hoá việc lặp lại bằng cách mô tả</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Quick Automate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Tự động hoá quy trình nhiều bước, có người duyệt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pic>
        <p:nvPicPr>
          <p:cNvPr id="7" name="Image 0" descr="Giao diện Amazon Quick">    </p:cNvPr>
          <p:cNvPicPr>
            <a:picLocks noChangeAspect="1"/>
          </p:cNvPicPr>
          <p:nvPr/>
        </p:nvPicPr>
        <p:blipFill>
          <a:blip r:embed="rId1"/>
          <a:stretch>
            <a:fillRect/>
          </a:stretch>
        </p:blipFill>
        <p:spPr>
          <a:xfrm>
            <a:off x="7062826" y="2469794"/>
            <a:ext cx="4433926" cy="2250338"/>
          </a:xfrm>
          <a:prstGeom prst="rect">
            <a:avLst/>
          </a:prstGeom>
        </p:spPr>
      </p:pic>
      <p:sp>
        <p:nvSpPr>
          <p:cNvPr id="8" name="Text 4"/>
          <p:cNvSpPr txBox="1"/>
          <p:nvPr/>
        </p:nvSpPr>
        <p:spPr>
          <a:xfrm>
            <a:off x="7053682" y="6096305"/>
            <a:ext cx="4541825"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Ảnh: AWS News Blog</a:t>
            </a:r>
            <a:endParaRPr lang="en-US" sz="980" dirty="0"/>
          </a:p>
        </p:txBody>
      </p:sp>
      <p:sp>
        <p:nvSpPr>
          <p:cNvPr id="9"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aws.amazon.com/quick/faqs; AWS News Blog "Announcing Amazon Quick Suite" (09/10/2025)</a:t>
            </a:r>
            <a:endParaRPr lang="en-US" sz="940" dirty="0"/>
          </a:p>
        </p:txBody>
      </p:sp>
      <p:sp>
        <p:nvSpPr>
          <p:cNvPr id="10" name="Text 6"/>
          <p:cNvSpPr txBox="1"/>
          <p:nvPr/>
        </p:nvSpPr>
        <p:spPr>
          <a:xfrm>
            <a:off x="10590581" y="6515100"/>
            <a:ext cx="933602"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5 / 30</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941625"/>
            <a:ext cx="5238598" cy="2262226"/>
          </a:xfrm>
          <a:prstGeom prst="roundRect">
            <a:avLst>
              <a:gd name="adj" fmla="val 2425"/>
            </a:avLst>
          </a:prstGeom>
          <a:solidFill>
            <a:srgbClr val="FDF6EC"/>
          </a:solidFill>
          <a:ln w="9525">
            <a:solidFill>
              <a:srgbClr val="F1D7B8"/>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Chat, Apps và tiện ích mở rộng</a:t>
            </a:r>
            <a:endParaRPr lang="en-US" sz="2550" dirty="0"/>
          </a:p>
        </p:txBody>
      </p:sp>
      <p:sp>
        <p:nvSpPr>
          <p:cNvPr id="6" name="Text 4"/>
          <p:cNvSpPr txBox="1"/>
          <p:nvPr/>
        </p:nvSpPr>
        <p:spPr>
          <a:xfrm>
            <a:off x="685800" y="1150315"/>
            <a:ext cx="5343754" cy="1894637"/>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Chat</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hỏi về dữ liệu công ty hoặc bất kỳ chủ đề nào. Có agent mặc định và agent riêng cho từng phòng ban.</a:t>
            </a:r>
            <a:endParaRPr lang="en-US" sz="1350" dirty="0"/>
          </a:p>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Apps in Quick</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tạo ứng dụng nhỏ bằng mô tả, không cần viết code, có thể gắn vào luồng phê duyệt.</a:t>
            </a:r>
            <a:endParaRPr lang="en-US" sz="1350" dirty="0"/>
          </a:p>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Tiện ích</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extension cho trình duyệt và Microsoft 365, desktop app làm việc với file trên máy không cần tải lên.</a:t>
            </a:r>
            <a:endParaRPr lang="en-US" sz="1350" dirty="0"/>
          </a:p>
        </p:txBody>
      </p:sp>
      <p:sp>
        <p:nvSpPr>
          <p:cNvPr id="7" name="Text 5"/>
          <p:cNvSpPr txBox="1"/>
          <p:nvPr/>
        </p:nvSpPr>
        <p:spPr>
          <a:xfrm>
            <a:off x="847649" y="3065069"/>
            <a:ext cx="5013655"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3302813"/>
            <a:ext cx="5013655" cy="2038198"/>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Chuyển một cuộc hội thoại thành tài liệu, bài trình bày, bảng tính hoặc hình ảnh.</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Tạo form tiếp nhận yêu cầu, bảng theo dõi trạng thái, công cụ tính toán chuyên dụng.</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Chuẩn bị trước cuộc họp, tổng hợp việc cần làm sau họp.</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Tóm tắt hoặc giải thích đoạn văn bản đang đọc trên trình duyệt.</a:t>
            </a:r>
            <a:endParaRPr lang="en-US" sz="1280" dirty="0"/>
          </a:p>
        </p:txBody>
      </p:sp>
      <p:pic>
        <p:nvPicPr>
          <p:cNvPr id="9" name="Image 0" descr="Chat agent trong Amazon Quick">    </p:cNvPr>
          <p:cNvPicPr>
            <a:picLocks noChangeAspect="1"/>
          </p:cNvPicPr>
          <p:nvPr/>
        </p:nvPicPr>
        <p:blipFill>
          <a:blip r:embed="rId1"/>
          <a:stretch>
            <a:fillRect/>
          </a:stretch>
        </p:blipFill>
        <p:spPr>
          <a:xfrm>
            <a:off x="6277356" y="2276856"/>
            <a:ext cx="5219395" cy="2636215"/>
          </a:xfrm>
          <a:prstGeom prst="rect">
            <a:avLst/>
          </a:prstGeom>
        </p:spPr>
      </p:pic>
      <p:sp>
        <p:nvSpPr>
          <p:cNvPr id="10" name="Text 7"/>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Chat agent. 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aws.amazon.com/quick; AWS News Blog (09/10/2025); Amazon Quick browser extension (Firefox Add-ons)</a:t>
            </a:r>
            <a:endParaRPr lang="en-US" sz="940" dirty="0"/>
          </a:p>
        </p:txBody>
      </p:sp>
      <p:sp>
        <p:nvSpPr>
          <p:cNvPr id="12" name="Text 9"/>
          <p:cNvSpPr txBox="1"/>
          <p:nvPr/>
        </p:nvSpPr>
        <p:spPr>
          <a:xfrm>
            <a:off x="10588752" y="6515100"/>
            <a:ext cx="93543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6 / 30</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941625"/>
            <a:ext cx="5238598" cy="1979676"/>
          </a:xfrm>
          <a:prstGeom prst="roundRect">
            <a:avLst>
              <a:gd name="adj" fmla="val 2771"/>
            </a:avLst>
          </a:prstGeom>
          <a:solidFill>
            <a:srgbClr val="FDF6EC"/>
          </a:solidFill>
          <a:ln w="9525">
            <a:solidFill>
              <a:srgbClr val="F1D7B8"/>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Spaces</a:t>
            </a:r>
            <a:endParaRPr lang="en-US" sz="2550" dirty="0"/>
          </a:p>
        </p:txBody>
      </p:sp>
      <p:sp>
        <p:nvSpPr>
          <p:cNvPr id="6" name="Text 4"/>
          <p:cNvSpPr txBox="1"/>
          <p:nvPr/>
        </p:nvSpPr>
        <p:spPr>
          <a:xfrm>
            <a:off x="685800" y="1150315"/>
            <a:ext cx="5343754" cy="1894637"/>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Không gian chung của một nhóm. Thêm vào: file, knowledge base (SharePoint, OneDrive, Google Drive, Confluence, S3, web), dashboard, actions.</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Chọn Space làm ngữ cảnh thì agent chỉ trả lời trong phạm vi Space đó.</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Tối đa 10.000 file, 10 GB. Quyền owner và viewer.</a:t>
            </a:r>
            <a:endParaRPr lang="en-US" sz="1350" dirty="0"/>
          </a:p>
        </p:txBody>
      </p:sp>
      <p:sp>
        <p:nvSpPr>
          <p:cNvPr id="7" name="Text 5"/>
          <p:cNvSpPr txBox="1"/>
          <p:nvPr/>
        </p:nvSpPr>
        <p:spPr>
          <a:xfrm>
            <a:off x="847649" y="3065069"/>
            <a:ext cx="5013655"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3302813"/>
            <a:ext cx="5013655" cy="1721815"/>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Gom kiến thức của nhóm vào một chỗ để mọi người hỏi đáp, thay vì tìm trong nhiều thư mục.</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Dùng chung agent và automation trong nhóm; kiến thức tích luỹ dần qua nhiều người.</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Biến một thư mục trên máy thành Space có thể tìm kiếm (desktop app, từ 9/2026).</a:t>
            </a:r>
            <a:endParaRPr lang="en-US" sz="1280" dirty="0"/>
          </a:p>
        </p:txBody>
      </p:sp>
      <p:pic>
        <p:nvPicPr>
          <p:cNvPr id="9" name="Image 0" descr="Màn hình Space trong Amazon Quick">    </p:cNvPr>
          <p:cNvPicPr>
            <a:picLocks noChangeAspect="1"/>
          </p:cNvPicPr>
          <p:nvPr/>
        </p:nvPicPr>
        <p:blipFill>
          <a:blip r:embed="rId1"/>
          <a:stretch>
            <a:fillRect/>
          </a:stretch>
        </p:blipFill>
        <p:spPr>
          <a:xfrm>
            <a:off x="6277356" y="2089404"/>
            <a:ext cx="5219395" cy="3011119"/>
          </a:xfrm>
          <a:prstGeom prst="rect">
            <a:avLst/>
          </a:prstGeom>
        </p:spPr>
      </p:pic>
      <p:sp>
        <p:nvSpPr>
          <p:cNvPr id="10" name="Text 7"/>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docs.aws.amazon.com/quick: "Working with spaces", "Managing a space"; aws.amazon.com/quick; AWS What's New (09/09/2026)</a:t>
            </a:r>
            <a:endParaRPr lang="en-US" sz="940" dirty="0"/>
          </a:p>
        </p:txBody>
      </p:sp>
      <p:sp>
        <p:nvSpPr>
          <p:cNvPr id="12" name="Text 9"/>
          <p:cNvSpPr txBox="1"/>
          <p:nvPr/>
        </p:nvSpPr>
        <p:spPr>
          <a:xfrm>
            <a:off x="10596067" y="6515100"/>
            <a:ext cx="929030"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7 / 30</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579876"/>
            <a:ext cx="6024982" cy="1979676"/>
          </a:xfrm>
          <a:prstGeom prst="roundRect">
            <a:avLst>
              <a:gd name="adj" fmla="val 2771"/>
            </a:avLst>
          </a:prstGeom>
          <a:solidFill>
            <a:srgbClr val="FDF6EC"/>
          </a:solidFill>
          <a:ln w="9525">
            <a:solidFill>
              <a:srgbClr val="F1D7B8"/>
            </a:solidFill>
            <a:prstDash val="solid"/>
          </a:ln>
        </p:spPr>
      </p:sp>
      <p:sp>
        <p:nvSpPr>
          <p:cNvPr id="3" name="Text 1"/>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Quick Index: dữ liệu vào từ đâu</a:t>
            </a:r>
            <a:endParaRPr lang="en-US" sz="2550" dirty="0"/>
          </a:p>
        </p:txBody>
      </p:sp>
      <p:sp>
        <p:nvSpPr>
          <p:cNvPr id="5" name="Text 3"/>
          <p:cNvSpPr txBox="1"/>
          <p:nvPr/>
        </p:nvSpPr>
        <p:spPr>
          <a:xfrm>
            <a:off x="685800" y="1150315"/>
            <a:ext cx="6144768" cy="646481"/>
          </a:xfrm>
          <a:prstGeom prst="rect">
            <a:avLst/>
          </a:prstGeom>
          <a:noFill/>
          <a:ln/>
        </p:spPr>
        <p:txBody>
          <a:bodyPr wrap="square" lIns="0" tIns="0" rIns="0" bIns="0" rtlCol="0" anchor="t"/>
          <a:lstStyle/>
          <a:p>
            <a:pPr algn="l" indent="0" marL="0">
              <a:lnSpc>
                <a:spcPct val="130000"/>
              </a:lnSpc>
              <a:buNone/>
            </a:pPr>
            <a:r>
              <a:rPr lang="en-US" sz="1430" dirty="0">
                <a:solidFill>
                  <a:srgbClr val="3D4659"/>
                </a:solidFill>
                <a:latin typeface="Arial" pitchFamily="34" charset="0"/>
                <a:ea typeface="Arial" pitchFamily="34" charset="-122"/>
                <a:cs typeface="Arial" pitchFamily="34" charset="-120"/>
              </a:rPr>
              <a:t>Quick Index là lớp index chạy nền, không có chỗ riêng để tải file vào. Dữ liệu đi vào theo ba đường:</a:t>
            </a:r>
            <a:endParaRPr lang="en-US" sz="1430" dirty="0"/>
          </a:p>
        </p:txBody>
      </p:sp>
      <p:sp>
        <p:nvSpPr>
          <p:cNvPr id="6" name="Text 4"/>
          <p:cNvSpPr txBox="1"/>
          <p:nvPr/>
        </p:nvSpPr>
        <p:spPr>
          <a:xfrm>
            <a:off x="685800" y="1788566"/>
            <a:ext cx="6144768" cy="1894637"/>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File tải lên Space</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index ngay, ai có quyền vào Space thì dùng được.</a:t>
            </a:r>
            <a:endParaRPr lang="en-US" sz="1350" dirty="0"/>
          </a:p>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Knowledge base</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từ SharePoint, OneDrive, Google Drive, Confluence, S3, web: file vẫn nằm ở nguồn, Quick đồng bộ mỗi ngày. Dùng được cho nhiều Space và agent.</a:t>
            </a:r>
            <a:endParaRPr lang="en-US" sz="1350" dirty="0"/>
          </a:p>
          <a:p>
            <a:pPr algn="l" marL="177800" indent="-177800">
              <a:lnSpc>
                <a:spcPct val="113000"/>
              </a:lnSpc>
              <a:spcAft>
                <a:spcPts val="450"/>
              </a:spcAft>
              <a:buSzPct val="100000"/>
              <a:buChar char="•"/>
            </a:pPr>
            <a:r>
              <a:rPr lang="en-US" sz="1350" b="1" dirty="0">
                <a:solidFill>
                  <a:srgbClr val="1D2433"/>
                </a:solidFill>
                <a:latin typeface="Arial" pitchFamily="34" charset="0"/>
                <a:ea typeface="Arial" pitchFamily="34" charset="-122"/>
                <a:cs typeface="Arial" pitchFamily="34" charset="-120"/>
              </a:rPr>
              <a:t>Thư mục trên máy</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qua desktop app (từ 9/2026): thành một Space có thể tìm kiếm.</a:t>
            </a:r>
            <a:endParaRPr lang="en-US" sz="1350" dirty="0"/>
          </a:p>
        </p:txBody>
      </p:sp>
      <p:sp>
        <p:nvSpPr>
          <p:cNvPr id="7" name="Text 5"/>
          <p:cNvSpPr txBox="1"/>
          <p:nvPr/>
        </p:nvSpPr>
        <p:spPr>
          <a:xfrm>
            <a:off x="847649" y="3703320"/>
            <a:ext cx="5814670"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Lưu ý</a:t>
            </a:r>
            <a:endParaRPr lang="en-US" sz="1130" dirty="0"/>
          </a:p>
        </p:txBody>
      </p:sp>
      <p:sp>
        <p:nvSpPr>
          <p:cNvPr id="8" name="Text 6"/>
          <p:cNvSpPr txBox="1"/>
          <p:nvPr/>
        </p:nvSpPr>
        <p:spPr>
          <a:xfrm>
            <a:off x="847649" y="3941064"/>
            <a:ext cx="5814670" cy="1721815"/>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File đính kèm trong chat (tối đa 20 file) gắn với cuộc chat đó, bị xoá cùng cuộc chat sau 90 ngày không dùng. Tài liệu cần dùng lâu dài thì đưa vào Space.</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Quyền xét ở mức knowledge base: người được chia sẻ knowledge base thấy toàn bộ nội dung trong đó. Tài liệu mật nên tách riêng.</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Dung lượng: 25 GB/người (Professional), 50 GB/người (Enterprise).</a:t>
            </a:r>
            <a:endParaRPr lang="en-US" sz="1280" dirty="0"/>
          </a:p>
        </p:txBody>
      </p:sp>
      <p:pic>
        <p:nvPicPr>
          <p:cNvPr id="9" name="Image 0" descr="Sơ đồ">    </p:cNvPr>
          <p:cNvPicPr>
            <a:picLocks noChangeAspect="1"/>
          </p:cNvPicPr>
          <p:nvPr/>
        </p:nvPicPr>
        <p:blipFill>
          <a:blip r:embed="rId1"/>
          <a:stretch>
            <a:fillRect/>
          </a:stretch>
        </p:blipFill>
        <p:spPr>
          <a:xfrm>
            <a:off x="7053682" y="1805026"/>
            <a:ext cx="4453128" cy="3789274"/>
          </a:xfrm>
          <a:prstGeom prst="rect">
            <a:avLst/>
          </a:prstGeom>
        </p:spPr>
      </p:pic>
      <p:sp>
        <p:nvSpPr>
          <p:cNvPr id="10" name="Text 7"/>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docs.aws.amazon.com/quick: "Knowledge bases", "Index capacity", "Using chat", "Managing a space"; AWS What's New (09/09/2026)</a:t>
            </a:r>
            <a:endParaRPr lang="en-US" sz="940" dirty="0"/>
          </a:p>
        </p:txBody>
      </p:sp>
      <p:sp>
        <p:nvSpPr>
          <p:cNvPr id="11" name="Text 8"/>
          <p:cNvSpPr txBox="1"/>
          <p:nvPr/>
        </p:nvSpPr>
        <p:spPr>
          <a:xfrm>
            <a:off x="10588752" y="6515100"/>
            <a:ext cx="93543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8 / 30</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941625"/>
            <a:ext cx="5238598" cy="2496312"/>
          </a:xfrm>
          <a:prstGeom prst="roundRect">
            <a:avLst>
              <a:gd name="adj" fmla="val 2198"/>
            </a:avLst>
          </a:prstGeom>
          <a:solidFill>
            <a:srgbClr val="FDF6EC"/>
          </a:solidFill>
          <a:ln w="9525">
            <a:solidFill>
              <a:srgbClr val="F1D7B8"/>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Quick Research</a:t>
            </a:r>
            <a:endParaRPr lang="en-US" sz="2550" dirty="0"/>
          </a:p>
        </p:txBody>
      </p:sp>
      <p:sp>
        <p:nvSpPr>
          <p:cNvPr id="6" name="Text 4"/>
          <p:cNvSpPr txBox="1"/>
          <p:nvPr/>
        </p:nvSpPr>
        <p:spPr>
          <a:xfrm>
            <a:off x="685800" y="1150315"/>
            <a:ext cx="5343754" cy="1894637"/>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Nhận một đề tài, lập kế hoạch nghiên cứu. Người dùng chỉnh kế hoạch rồi agent chạy nền.</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Kết quả là báo cáo, mỗi nhận định có trích dẫn đến nguồn gốc.</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Nguồn: dữ liệu nội bộ, web và tin tức hơn 200 đầu báo, S&amp;P Global, FactSet, IDC (cần subscription), US Patents, PubMed.</a:t>
            </a:r>
            <a:endParaRPr lang="en-US" sz="1350" dirty="0"/>
          </a:p>
        </p:txBody>
      </p:sp>
      <p:sp>
        <p:nvSpPr>
          <p:cNvPr id="7" name="Text 5"/>
          <p:cNvSpPr txBox="1"/>
          <p:nvPr/>
        </p:nvSpPr>
        <p:spPr>
          <a:xfrm>
            <a:off x="847649" y="3065069"/>
            <a:ext cx="5013655"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3302813"/>
            <a:ext cx="5013655" cy="2300630"/>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Phân tích thị trường, đối thủ, xu hướng ngành; dự báo tăng trưởng và đề xuất chiến lược.</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Rà soát rủi ro và tuân thủ: quy định, kiểm tra due diligence, tra cứu bằng sáng chế.</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Tìm nguyên nhân gây kém hiệu quả, cơ hội về giá và doanh thu.</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Tìm hiểu khách hàng: nhu cầu, khó khăn, vị thế so với đối thủ, phục vụ bán hàng.</a:t>
            </a:r>
            <a:endParaRPr lang="en-US" sz="1280" dirty="0"/>
          </a:p>
        </p:txBody>
      </p:sp>
      <p:pic>
        <p:nvPicPr>
          <p:cNvPr id="9" name="Image 0" descr="Quick Research tạo kế hoạch nghiên cứu từ một yêu cầu">    </p:cNvPr>
          <p:cNvPicPr>
            <a:picLocks noChangeAspect="1"/>
          </p:cNvPicPr>
          <p:nvPr/>
        </p:nvPicPr>
        <p:blipFill>
          <a:blip r:embed="rId1"/>
          <a:stretch>
            <a:fillRect/>
          </a:stretch>
        </p:blipFill>
        <p:spPr>
          <a:xfrm>
            <a:off x="6277356" y="2278685"/>
            <a:ext cx="5219395" cy="2632558"/>
          </a:xfrm>
          <a:prstGeom prst="rect">
            <a:avLst/>
          </a:prstGeom>
        </p:spPr>
      </p:pic>
      <p:sp>
        <p:nvSpPr>
          <p:cNvPr id="10" name="Text 7"/>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Kế hoạch nghiên cứu được tạo từ một yêu cầu. 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aws.amazon.com/quick/research; aws.amazon.com/quick; docs.aws.amazon.com/quick: "Using Amazon Quick Research"</a:t>
            </a:r>
            <a:endParaRPr lang="en-US" sz="940" dirty="0"/>
          </a:p>
        </p:txBody>
      </p:sp>
      <p:sp>
        <p:nvSpPr>
          <p:cNvPr id="12" name="Text 9"/>
          <p:cNvSpPr txBox="1"/>
          <p:nvPr/>
        </p:nvSpPr>
        <p:spPr>
          <a:xfrm>
            <a:off x="10588752" y="6515100"/>
            <a:ext cx="93543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9 / 30</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683764"/>
            <a:ext cx="5238598" cy="2544775"/>
          </a:xfrm>
          <a:prstGeom prst="roundRect">
            <a:avLst>
              <a:gd name="adj" fmla="val 2156"/>
            </a:avLst>
          </a:prstGeom>
          <a:solidFill>
            <a:srgbClr val="FDF6EC"/>
          </a:solidFill>
          <a:ln w="9525">
            <a:solidFill>
              <a:srgbClr val="F1D7B8"/>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Quick Sight</a:t>
            </a:r>
            <a:endParaRPr lang="en-US" sz="2550" dirty="0"/>
          </a:p>
        </p:txBody>
      </p:sp>
      <p:sp>
        <p:nvSpPr>
          <p:cNvPr id="6" name="Text 4"/>
          <p:cNvSpPr txBox="1"/>
          <p:nvPr/>
        </p:nvSpPr>
        <p:spPr>
          <a:xfrm>
            <a:off x="685800" y="1150315"/>
            <a:ext cx="5343754" cy="1606601"/>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Là Amazon QuickSight trước đây. Dựng </a:t>
            </a:r>
            <a:pPr algn="l" marL="177800" indent="-177800">
              <a:lnSpc>
                <a:spcPct val="113000"/>
              </a:lnSpc>
              <a:spcAft>
                <a:spcPts val="450"/>
              </a:spcAft>
              <a:buSzPct val="100000"/>
              <a:buChar char="•"/>
            </a:pPr>
            <a:r>
              <a:rPr lang="en-US" sz="1350" i="1" dirty="0">
                <a:solidFill>
                  <a:srgbClr val="3D4659"/>
                </a:solidFill>
                <a:latin typeface="Arial" pitchFamily="34" charset="0"/>
                <a:ea typeface="Arial" pitchFamily="34" charset="-122"/>
                <a:cs typeface="Arial" pitchFamily="34" charset="-120"/>
              </a:rPr>
              <a:t>analysis</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rồi publish thành </a:t>
            </a:r>
            <a:pPr algn="l" marL="177800" indent="-177800">
              <a:lnSpc>
                <a:spcPct val="113000"/>
              </a:lnSpc>
              <a:spcAft>
                <a:spcPts val="450"/>
              </a:spcAft>
              <a:buSzPct val="100000"/>
              <a:buChar char="•"/>
            </a:pPr>
            <a:r>
              <a:rPr lang="en-US" sz="1350" i="1" dirty="0">
                <a:solidFill>
                  <a:srgbClr val="3D4659"/>
                </a:solidFill>
                <a:latin typeface="Arial" pitchFamily="34" charset="0"/>
                <a:ea typeface="Arial" pitchFamily="34" charset="-122"/>
                <a:cs typeface="Arial" pitchFamily="34" charset="-120"/>
              </a:rPr>
              <a:t>dashboard</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Lấy số liệu từ database, kho dữ liệu hoặc file Excel/CSV qua dataset. Space không phải nguồn dữ liệu của Quick Sight.</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Topic giúp hỏi số liệu bằng câu tự nhiên.</a:t>
            </a:r>
            <a:endParaRPr lang="en-US" sz="1350" dirty="0"/>
          </a:p>
        </p:txBody>
      </p:sp>
      <p:sp>
        <p:nvSpPr>
          <p:cNvPr id="7" name="Text 5"/>
          <p:cNvSpPr txBox="1"/>
          <p:nvPr/>
        </p:nvSpPr>
        <p:spPr>
          <a:xfrm>
            <a:off x="847649" y="2808122"/>
            <a:ext cx="5013655"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3045866"/>
            <a:ext cx="5013655" cy="2354580"/>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Tạo analysis từ câu mô tả: chọn dataset, Quick dựng sheet, biểu đồ, bộ lọc (Generate Analysis, 5/2026).</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Tạo analysis từ ảnh chụp một dashboard có sẵn, kể cả của công cụ BI khác (9/2026).</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Hỏi số liệu bằng câu tự nhiên, nhận biểu đồ và phần giải thích.</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Phân tích giả định (what-if) bằng tính năng Scenarios.</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Từ dashboard, tạo ticket hoặc cảnh báo bằng một thao tác.</a:t>
            </a:r>
            <a:endParaRPr lang="en-US" sz="1280" dirty="0"/>
          </a:p>
        </p:txBody>
      </p:sp>
      <p:pic>
        <p:nvPicPr>
          <p:cNvPr id="9" name="Image 0" descr="Hỏi số liệu bằng ngôn ngữ tự nhiên trong Quick Sight">    </p:cNvPr>
          <p:cNvPicPr>
            <a:picLocks noChangeAspect="1"/>
          </p:cNvPicPr>
          <p:nvPr/>
        </p:nvPicPr>
        <p:blipFill>
          <a:blip r:embed="rId1"/>
          <a:stretch>
            <a:fillRect/>
          </a:stretch>
        </p:blipFill>
        <p:spPr>
          <a:xfrm>
            <a:off x="6277356" y="2127809"/>
            <a:ext cx="5219395" cy="2933395"/>
          </a:xfrm>
          <a:prstGeom prst="rect">
            <a:avLst/>
          </a:prstGeom>
        </p:spPr>
      </p:pic>
      <p:sp>
        <p:nvSpPr>
          <p:cNvPr id="10" name="Text 7"/>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Hỏi bằng câu tự nhiên, nhận biểu đồ và tóm tắt. 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 News Blog (09/10/2025); AWS What's New (04/05/2026, 17/09/2026); docs.aws.amazon.com/quick: "Starting an analysis in Quick Sight"</a:t>
            </a:r>
            <a:endParaRPr lang="en-US" sz="940" dirty="0"/>
          </a:p>
        </p:txBody>
      </p:sp>
      <p:sp>
        <p:nvSpPr>
          <p:cNvPr id="12" name="Text 9"/>
          <p:cNvSpPr txBox="1"/>
          <p:nvPr/>
        </p:nvSpPr>
        <p:spPr>
          <a:xfrm>
            <a:off x="10537546" y="6515100"/>
            <a:ext cx="988466"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10 / 30</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683764"/>
            <a:ext cx="4714646" cy="1979676"/>
          </a:xfrm>
          <a:prstGeom prst="roundRect">
            <a:avLst>
              <a:gd name="adj" fmla="val 2771"/>
            </a:avLst>
          </a:prstGeom>
          <a:solidFill>
            <a:srgbClr val="FDF6EC"/>
          </a:solidFill>
          <a:ln w="9525">
            <a:solidFill>
              <a:srgbClr val="F1D7B8"/>
            </a:solidFill>
            <a:prstDash val="solid"/>
          </a:ln>
        </p:spPr>
      </p:sp>
      <p:sp>
        <p:nvSpPr>
          <p:cNvPr id="3" name="Shape 1"/>
          <p:cNvSpPr/>
          <p:nvPr/>
        </p:nvSpPr>
        <p:spPr>
          <a:xfrm>
            <a:off x="5743346" y="1150315"/>
            <a:ext cx="5762549"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Quick Flows</a:t>
            </a:r>
            <a:endParaRPr lang="en-US" sz="2550" dirty="0"/>
          </a:p>
        </p:txBody>
      </p:sp>
      <p:sp>
        <p:nvSpPr>
          <p:cNvPr id="6" name="Text 4"/>
          <p:cNvSpPr txBox="1"/>
          <p:nvPr/>
        </p:nvSpPr>
        <p:spPr>
          <a:xfrm>
            <a:off x="685800" y="1150315"/>
            <a:ext cx="4808830" cy="1606601"/>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Mô tả công việc bằng lời, Quick tạo flow gồm các bước nhập liệu, xử lý, kết quả. Không cần lập trình.</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Chia sẻ flow cho đồng nghiệp, chạy từ thư viện hoặc từ chat, hoặc chạy theo lịch.</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Có trong cả gói Free.</a:t>
            </a:r>
            <a:endParaRPr lang="en-US" sz="1350" dirty="0"/>
          </a:p>
        </p:txBody>
      </p:sp>
      <p:sp>
        <p:nvSpPr>
          <p:cNvPr id="7" name="Text 5"/>
          <p:cNvSpPr txBox="1"/>
          <p:nvPr/>
        </p:nvSpPr>
        <p:spPr>
          <a:xfrm>
            <a:off x="847649" y="2808122"/>
            <a:ext cx="4478731"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3045866"/>
            <a:ext cx="4478731" cy="1721815"/>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Các việc vặt lặp lại hằng ngày của một người hoặc một nhóm.</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Tạo báo cáo nghiên cứu định kỳ: đặt Quick Research làm một bước, chạy theo lịch.</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Đóng gói một cách làm hay thành flow để cả nhóm dùng lại.</a:t>
            </a:r>
            <a:endParaRPr lang="en-US" sz="1280" dirty="0"/>
          </a:p>
        </p:txBody>
      </p:sp>
      <p:pic>
        <p:nvPicPr>
          <p:cNvPr id="9" name="Image 0" descr="Một flow nhiều bước trong Quick Flows">    </p:cNvPr>
          <p:cNvPicPr>
            <a:picLocks noChangeAspect="1"/>
          </p:cNvPicPr>
          <p:nvPr/>
        </p:nvPicPr>
        <p:blipFill>
          <a:blip r:embed="rId1"/>
          <a:stretch>
            <a:fillRect/>
          </a:stretch>
        </p:blipFill>
        <p:spPr>
          <a:xfrm>
            <a:off x="5753405" y="2144268"/>
            <a:ext cx="5743346" cy="2900477"/>
          </a:xfrm>
          <a:prstGeom prst="rect">
            <a:avLst/>
          </a:prstGeom>
        </p:spPr>
      </p:pic>
      <p:sp>
        <p:nvSpPr>
          <p:cNvPr id="10" name="Text 7"/>
          <p:cNvSpPr txBox="1"/>
          <p:nvPr/>
        </p:nvSpPr>
        <p:spPr>
          <a:xfrm>
            <a:off x="5743346" y="6096305"/>
            <a:ext cx="5877763"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Flow được tạo từ mô tả. 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 News Blog (09/10/2025); aws.amazon.com/quick; AWS What's New "Quick Research in Quick Flows" (08/12/2025)</a:t>
            </a:r>
            <a:endParaRPr lang="en-US" sz="940" dirty="0"/>
          </a:p>
        </p:txBody>
      </p:sp>
      <p:sp>
        <p:nvSpPr>
          <p:cNvPr id="12" name="Text 9"/>
          <p:cNvSpPr txBox="1"/>
          <p:nvPr/>
        </p:nvSpPr>
        <p:spPr>
          <a:xfrm>
            <a:off x="10564978" y="6515100"/>
            <a:ext cx="960120"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11 / 30</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627071"/>
            <a:ext cx="4714646" cy="3013862"/>
          </a:xfrm>
          <a:prstGeom prst="roundRect">
            <a:avLst>
              <a:gd name="adj" fmla="val 1820"/>
            </a:avLst>
          </a:prstGeom>
          <a:solidFill>
            <a:srgbClr val="FDF6EC"/>
          </a:solidFill>
          <a:ln w="9525">
            <a:solidFill>
              <a:srgbClr val="F1D7B8"/>
            </a:solidFill>
            <a:prstDash val="solid"/>
          </a:ln>
        </p:spPr>
      </p:sp>
      <p:sp>
        <p:nvSpPr>
          <p:cNvPr id="3" name="Shape 1"/>
          <p:cNvSpPr/>
          <p:nvPr/>
        </p:nvSpPr>
        <p:spPr>
          <a:xfrm>
            <a:off x="5743346" y="1150315"/>
            <a:ext cx="5762549"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Quick Automate</a:t>
            </a:r>
            <a:endParaRPr lang="en-US" sz="2550" dirty="0"/>
          </a:p>
        </p:txBody>
      </p:sp>
      <p:sp>
        <p:nvSpPr>
          <p:cNvPr id="6" name="Text 4"/>
          <p:cNvSpPr txBox="1"/>
          <p:nvPr/>
        </p:nvSpPr>
        <p:spPr>
          <a:xfrm>
            <a:off x="685800" y="1150315"/>
            <a:ext cx="4808830" cy="1542593"/>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Tự động hoá quy trình nhiều bước, qua nhiều phòng ban và hệ thống. Thiết lập bằng mô tả hoặc từ tài liệu quy trình có sẵn.</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Chuyển các trường hợp ngoại lệ cho người duyệt. Có phân quyền, quản lý phiên bản, nhật ký và báo cáo.</a:t>
            </a:r>
            <a:endParaRPr lang="en-US" sz="1350" dirty="0"/>
          </a:p>
        </p:txBody>
      </p:sp>
      <p:sp>
        <p:nvSpPr>
          <p:cNvPr id="7" name="Text 5"/>
          <p:cNvSpPr txBox="1"/>
          <p:nvPr/>
        </p:nvSpPr>
        <p:spPr>
          <a:xfrm>
            <a:off x="847649" y="2750515"/>
            <a:ext cx="4478731" cy="240487"/>
          </a:xfrm>
          <a:prstGeom prst="rect">
            <a:avLst/>
          </a:prstGeom>
          <a:noFill/>
          <a:ln/>
        </p:spPr>
        <p:txBody>
          <a:bodyPr wrap="square" lIns="0" tIns="0" rIns="0" bIns="0" rtlCol="0" anchor="t"/>
          <a:lstStyle/>
          <a:p>
            <a:pPr algn="l" indent="0" marL="0">
              <a:lnSpc>
                <a:spcPct val="104000"/>
              </a:lnSpc>
              <a:buNone/>
            </a:pPr>
            <a:r>
              <a:rPr lang="en-US" sz="1130" b="1" dirty="0">
                <a:solidFill>
                  <a:srgbClr val="B85F00"/>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2989174"/>
            <a:ext cx="4478731" cy="2880360"/>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Đối soát hoá đơn: nhóm Finance của Amazon xử lý hàng nghìn hoá đơn mỗi tháng.</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Ngân hàng: xử lý hồ sơ vay, hồ sơ tín dụng, quản lý tài khoản.</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Bảo hiểm: xử lý bồi thường, quản lý hợp đồng, thẩm định.</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Chăm sóc khách hàng: Propulse Lab xử lý hơn 1.600 ticket mỗi tháng, có người kiểm tra.</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Phân tích tài chính và tự gửi bản tóm tắt cho các bên liên quan.</a:t>
            </a:r>
            <a:endParaRPr lang="en-US" sz="1280" dirty="0"/>
          </a:p>
        </p:txBody>
      </p:sp>
      <p:pic>
        <p:nvPicPr>
          <p:cNvPr id="9" name="Image 0" descr="Kế hoạch tự động hoá trong Quick Automate">    </p:cNvPr>
          <p:cNvPicPr>
            <a:picLocks noChangeAspect="1"/>
          </p:cNvPicPr>
          <p:nvPr/>
        </p:nvPicPr>
        <p:blipFill>
          <a:blip r:embed="rId1"/>
          <a:stretch>
            <a:fillRect/>
          </a:stretch>
        </p:blipFill>
        <p:spPr>
          <a:xfrm>
            <a:off x="5753405" y="2144268"/>
            <a:ext cx="5743346" cy="2900477"/>
          </a:xfrm>
          <a:prstGeom prst="rect">
            <a:avLst/>
          </a:prstGeom>
        </p:spPr>
      </p:pic>
      <p:sp>
        <p:nvSpPr>
          <p:cNvPr id="10" name="Text 7"/>
          <p:cNvSpPr txBox="1"/>
          <p:nvPr/>
        </p:nvSpPr>
        <p:spPr>
          <a:xfrm>
            <a:off x="5743346" y="6096305"/>
            <a:ext cx="5877763"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Ảnh: AWS News Blog</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aws.amazon.com/quick/automate; aws.amazon.com/quick; aboutamazon.com; AWS News Blog (09/10/2025)</a:t>
            </a:r>
            <a:endParaRPr lang="en-US" sz="940" dirty="0"/>
          </a:p>
        </p:txBody>
      </p:sp>
      <p:sp>
        <p:nvSpPr>
          <p:cNvPr id="12" name="Text 9"/>
          <p:cNvSpPr txBox="1"/>
          <p:nvPr/>
        </p:nvSpPr>
        <p:spPr>
          <a:xfrm>
            <a:off x="10540289" y="6515100"/>
            <a:ext cx="985723"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12 / 30</a:t>
            </a:r>
            <a:endParaRPr lang="en-US" sz="9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046159" y="209398"/>
            <a:ext cx="2510028" cy="219456"/>
          </a:xfrm>
          <a:prstGeom prst="rect">
            <a:avLst/>
          </a:prstGeom>
          <a:noFill/>
          <a:ln/>
        </p:spPr>
        <p:txBody>
          <a:bodyPr wrap="square" lIns="0" tIns="0" rIns="0" bIns="0" rtlCol="0" anchor="t"/>
          <a:lstStyle/>
          <a:p>
            <a:pPr algn="r" indent="0" marL="0">
              <a:lnSpc>
                <a:spcPct val="104000"/>
              </a:lnSpc>
              <a:buNone/>
            </a:pPr>
            <a:r>
              <a:rPr lang="en-US" sz="1050" b="1" dirty="0">
                <a:solidFill>
                  <a:srgbClr val="B85F00"/>
                </a:solidFill>
                <a:latin typeface="Arial" pitchFamily="34" charset="0"/>
                <a:ea typeface="Arial" pitchFamily="34" charset="-122"/>
                <a:cs typeface="Arial" pitchFamily="34" charset="-120"/>
              </a:rPr>
              <a:t>Amazon Quick</a:t>
            </a:r>
            <a:endParaRPr lang="en-US" sz="1050" dirty="0"/>
          </a:p>
        </p:txBody>
      </p:sp>
      <p:sp>
        <p:nvSpPr>
          <p:cNvPr id="3" name="Text 1"/>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Kết nối và gói dịch vụ</a:t>
            </a:r>
            <a:endParaRPr lang="en-US" sz="2550" dirty="0"/>
          </a:p>
        </p:txBody>
      </p:sp>
      <p:sp>
        <p:nvSpPr>
          <p:cNvPr id="4" name="Text 2"/>
          <p:cNvSpPr txBox="1"/>
          <p:nvPr/>
        </p:nvSpPr>
        <p:spPr>
          <a:xfrm>
            <a:off x="685800" y="1150315"/>
            <a:ext cx="5343754" cy="294437"/>
          </a:xfrm>
          <a:prstGeom prst="rect">
            <a:avLst/>
          </a:prstGeom>
          <a:noFill/>
          <a:ln/>
        </p:spPr>
        <p:txBody>
          <a:bodyPr wrap="square" lIns="0" tIns="0" rIns="0" bIns="0" rtlCol="0" anchor="t"/>
          <a:lstStyle/>
          <a:p>
            <a:pPr algn="l" indent="0" marL="0">
              <a:lnSpc>
                <a:spcPct val="104000"/>
              </a:lnSpc>
              <a:buNone/>
            </a:pPr>
            <a:r>
              <a:rPr lang="en-US" sz="1500" b="1" dirty="0">
                <a:solidFill>
                  <a:srgbClr val="1D2433"/>
                </a:solidFill>
                <a:latin typeface="Arial" pitchFamily="34" charset="0"/>
                <a:ea typeface="Arial" pitchFamily="34" charset="-122"/>
                <a:cs typeface="Arial" pitchFamily="34" charset="-120"/>
              </a:rPr>
              <a:t>Kết nối</a:t>
            </a:r>
            <a:endParaRPr lang="en-US" sz="1500" dirty="0"/>
          </a:p>
        </p:txBody>
      </p:sp>
      <p:sp>
        <p:nvSpPr>
          <p:cNvPr id="5" name="Text 3"/>
          <p:cNvSpPr txBox="1"/>
          <p:nvPr/>
        </p:nvSpPr>
        <p:spPr>
          <a:xfrm>
            <a:off x="685800" y="1455725"/>
            <a:ext cx="5343754" cy="2640787"/>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Hơn 50 connector có sẵn: SharePoint, Snowflake, Google Drive, OneDrive, Outlook, ServiceNow, Databricks, Redshift, S3...</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Actions cho phép đọc và ghi dữ liệu trên ứng dụng SaaS và MCP server.</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Connector do AWS làm sẵn cho từng ứng dụng. MCP là chuẩn mở: hệ thống nào có MCP server, kể cả hệ thống nội bộ tự viết, đều kết nối được.</a:t>
            </a:r>
            <a:endParaRPr lang="en-US" sz="1430" dirty="0"/>
          </a:p>
        </p:txBody>
      </p:sp>
      <p:sp>
        <p:nvSpPr>
          <p:cNvPr id="6" name="Text 4"/>
          <p:cNvSpPr txBox="1"/>
          <p:nvPr/>
        </p:nvSpPr>
        <p:spPr>
          <a:xfrm>
            <a:off x="6267298" y="1150315"/>
            <a:ext cx="5343754" cy="294437"/>
          </a:xfrm>
          <a:prstGeom prst="rect">
            <a:avLst/>
          </a:prstGeom>
          <a:noFill/>
          <a:ln/>
        </p:spPr>
        <p:txBody>
          <a:bodyPr wrap="square" lIns="0" tIns="0" rIns="0" bIns="0" rtlCol="0" anchor="t"/>
          <a:lstStyle/>
          <a:p>
            <a:pPr algn="l" indent="0" marL="0">
              <a:lnSpc>
                <a:spcPct val="104000"/>
              </a:lnSpc>
              <a:buNone/>
            </a:pPr>
            <a:r>
              <a:rPr lang="en-US" sz="1500" b="1" dirty="0">
                <a:solidFill>
                  <a:srgbClr val="1D2433"/>
                </a:solidFill>
                <a:latin typeface="Arial" pitchFamily="34" charset="0"/>
                <a:ea typeface="Arial" pitchFamily="34" charset="-122"/>
                <a:cs typeface="Arial" pitchFamily="34" charset="-120"/>
              </a:rPr>
              <a:t>Gói dịch vụ</a:t>
            </a:r>
            <a:endParaRPr lang="en-US" sz="1500" dirty="0"/>
          </a:p>
        </p:txBody>
      </p:sp>
      <p:sp>
        <p:nvSpPr>
          <p:cNvPr id="7" name="Text 5"/>
          <p:cNvSpPr txBox="1"/>
          <p:nvPr/>
        </p:nvSpPr>
        <p:spPr>
          <a:xfrm>
            <a:off x="6267298" y="1455725"/>
            <a:ext cx="5343754" cy="2726741"/>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Free, Plus (dùng thử 30 ngày), Professional, Enterprise.</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Professional và Enterprise có thêm Quick Sight, Quick Automate, kết nối nguồn dữ liệu AWS, đăng nhập qua hệ thống định danh của công ty, quản trị nâng cao.</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Agent hours từ 9/2026: Professional 8 giờ/tháng, Enterprise 18 giờ/tháng.</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AWS không dùng dữ liệu khách hàng để huấn luyện model ở mọi gói.</a:t>
            </a:r>
            <a:endParaRPr lang="en-US" sz="1430" dirty="0"/>
          </a:p>
        </p:txBody>
      </p:sp>
      <p:sp>
        <p:nvSpPr>
          <p:cNvPr id="8" name="Text 6"/>
          <p:cNvSpPr txBox="1"/>
          <p:nvPr/>
        </p:nvSpPr>
        <p:spPr>
          <a:xfrm>
            <a:off x="6267298" y="3931920"/>
            <a:ext cx="5343754" cy="294437"/>
          </a:xfrm>
          <a:prstGeom prst="rect">
            <a:avLst/>
          </a:prstGeom>
          <a:noFill/>
          <a:ln/>
        </p:spPr>
        <p:txBody>
          <a:bodyPr wrap="square" lIns="0" tIns="0" rIns="0" bIns="0" rtlCol="0" anchor="t"/>
          <a:lstStyle/>
          <a:p>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Giá chi tiết: aws.amazon.com/quick/pricing</a:t>
            </a:r>
            <a:endParaRPr lang="en-US" sz="1200" dirty="0"/>
          </a:p>
        </p:txBody>
      </p:sp>
      <p:sp>
        <p:nvSpPr>
          <p:cNvPr id="9" name="Text 7"/>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aboutamazon.com; docs.aws.amazon.com/quick: "Managing a space"; aws.amazon.com/quick/faqs; AWS What's New (09/09/2026)</a:t>
            </a:r>
            <a:endParaRPr lang="en-US" sz="940" dirty="0"/>
          </a:p>
        </p:txBody>
      </p:sp>
      <p:sp>
        <p:nvSpPr>
          <p:cNvPr id="10" name="Text 8"/>
          <p:cNvSpPr txBox="1"/>
          <p:nvPr/>
        </p:nvSpPr>
        <p:spPr>
          <a:xfrm>
            <a:off x="10539374" y="6515100"/>
            <a:ext cx="986638"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13 / 30</a:t>
            </a:r>
            <a:endParaRPr lang="en-US" sz="9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2745943"/>
            <a:ext cx="10570464" cy="326441"/>
          </a:xfrm>
          <a:prstGeom prst="rect">
            <a:avLst/>
          </a:prstGeom>
          <a:noFill/>
          <a:ln/>
        </p:spPr>
        <p:txBody>
          <a:bodyPr wrap="square" lIns="0" tIns="0" rIns="0" bIns="0" rtlCol="0" anchor="t"/>
          <a:lstStyle/>
          <a:p>
            <a:pPr algn="l" indent="0" marL="0">
              <a:lnSpc>
                <a:spcPct val="130000"/>
              </a:lnSpc>
              <a:buNone/>
            </a:pPr>
            <a:r>
              <a:rPr lang="en-US" sz="1350" b="1" dirty="0">
                <a:solidFill>
                  <a:srgbClr val="5A3EC8"/>
                </a:solidFill>
                <a:latin typeface="Arial" pitchFamily="34" charset="0"/>
                <a:ea typeface="Arial" pitchFamily="34" charset="-122"/>
                <a:cs typeface="Arial" pitchFamily="34" charset="-120"/>
              </a:rPr>
              <a:t>Phần 2</a:t>
            </a:r>
            <a:endParaRPr lang="en-US" sz="1350" dirty="0"/>
          </a:p>
        </p:txBody>
      </p:sp>
      <p:sp>
        <p:nvSpPr>
          <p:cNvPr id="3" name="Text 1"/>
          <p:cNvSpPr txBox="1"/>
          <p:nvPr/>
        </p:nvSpPr>
        <p:spPr>
          <a:xfrm>
            <a:off x="914400" y="3097987"/>
            <a:ext cx="10570464" cy="651967"/>
          </a:xfrm>
          <a:prstGeom prst="rect">
            <a:avLst/>
          </a:prstGeom>
          <a:noFill/>
          <a:ln/>
        </p:spPr>
        <p:txBody>
          <a:bodyPr wrap="square" lIns="0" tIns="0" rIns="0" bIns="0" rtlCol="0" anchor="t"/>
          <a:lstStyle/>
          <a:p>
            <a:pPr algn="l" indent="0" marL="0">
              <a:lnSpc>
                <a:spcPct val="100000"/>
              </a:lnSpc>
              <a:buNone/>
            </a:pPr>
            <a:r>
              <a:rPr lang="en-US" sz="3750" b="1" dirty="0">
                <a:solidFill>
                  <a:srgbClr val="1D2433"/>
                </a:solidFill>
                <a:latin typeface="Arial" pitchFamily="34" charset="0"/>
                <a:ea typeface="Arial" pitchFamily="34" charset="-122"/>
                <a:cs typeface="Arial" pitchFamily="34" charset="-120"/>
              </a:rPr>
              <a:t>Kiro</a:t>
            </a:r>
            <a:endParaRPr lang="en-US" sz="3750" dirty="0"/>
          </a:p>
        </p:txBody>
      </p:sp>
      <p:sp>
        <p:nvSpPr>
          <p:cNvPr id="4" name="Text 2"/>
          <p:cNvSpPr txBox="1"/>
          <p:nvPr/>
        </p:nvSpPr>
        <p:spPr>
          <a:xfrm>
            <a:off x="914400" y="3798418"/>
            <a:ext cx="10570464" cy="390449"/>
          </a:xfrm>
          <a:prstGeom prst="rect">
            <a:avLst/>
          </a:prstGeom>
          <a:noFill/>
          <a:ln/>
        </p:spPr>
        <p:txBody>
          <a:bodyPr wrap="square" lIns="0" tIns="0" rIns="0" bIns="0" rtlCol="0" anchor="t"/>
          <a:lstStyle/>
          <a:p>
            <a:pPr algn="l" indent="0" marL="0">
              <a:lnSpc>
                <a:spcPct val="130000"/>
              </a:lnSpc>
              <a:buNone/>
            </a:pPr>
            <a:r>
              <a:rPr lang="en-US" sz="1650" dirty="0">
                <a:solidFill>
                  <a:srgbClr val="3D4659"/>
                </a:solidFill>
                <a:latin typeface="Arial" pitchFamily="34" charset="0"/>
                <a:ea typeface="Arial" pitchFamily="34" charset="-122"/>
                <a:cs typeface="Arial" pitchFamily="34" charset="-120"/>
              </a:rPr>
              <a:t>Kiro IDE, Kiro CLI và Kiro Crew</a:t>
            </a:r>
            <a:endParaRPr lang="en-US" sz="1650" dirty="0"/>
          </a:p>
        </p:txBody>
      </p:sp>
      <p:sp>
        <p:nvSpPr>
          <p:cNvPr id="5" name="Text 3"/>
          <p:cNvSpPr txBox="1"/>
          <p:nvPr/>
        </p:nvSpPr>
        <p:spPr>
          <a:xfrm>
            <a:off x="10535717" y="6515100"/>
            <a:ext cx="990295"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14 / 30</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720986" y="209398"/>
            <a:ext cx="1820570"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a:t>
            </a:r>
            <a:endParaRPr lang="en-US" sz="1050" dirty="0"/>
          </a:p>
        </p:txBody>
      </p:sp>
      <p:sp>
        <p:nvSpPr>
          <p:cNvPr id="3" name="Text 1"/>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Kiro là gì</a:t>
            </a:r>
            <a:endParaRPr lang="en-US" sz="2550" dirty="0"/>
          </a:p>
        </p:txBody>
      </p:sp>
      <p:sp>
        <p:nvSpPr>
          <p:cNvPr id="4" name="Text 2"/>
          <p:cNvSpPr txBox="1"/>
          <p:nvPr/>
        </p:nvSpPr>
        <p:spPr>
          <a:xfrm>
            <a:off x="685800" y="1150315"/>
            <a:ext cx="6144768" cy="4112971"/>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Công cụ phát triển phần mềm bằng AI agent của AWS. Có IDE, CLI, Web, ứng dụng di động và Kiro Crew.</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Các giao diện dùng chung một agent harness, giao tiếp qua Agent Client Protocol (ACP). Cấu hình trong thư mục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dùng chung.</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Cloud session: agent chạy trong sandbox trên cloud của Kiro. Có thể bắt đầu trên web rồi theo dõi từ điện thoại, CLI hoặc IDE.</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Model: nhiều lựa chọn từ Anthropic, OpenAI và các model khác, hoặc chế độ Auto (slide sau).</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IDE dựa trên Code OSS, dùng được extension Open VSX và cấu hình VS Code.</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Đăng nhập bằng GitHub, Google, AWS Builder ID hoặc IAM Identity Center. Không cần tài khoản AWS.</a:t>
            </a:r>
            <a:endParaRPr lang="en-US" sz="1430" dirty="0"/>
          </a:p>
        </p:txBody>
      </p:sp>
      <p:pic>
        <p:nvPicPr>
          <p:cNvPr id="5" name="Image 0" descr="Sơ đồ">    </p:cNvPr>
          <p:cNvPicPr>
            <a:picLocks noChangeAspect="1"/>
          </p:cNvPicPr>
          <p:nvPr/>
        </p:nvPicPr>
        <p:blipFill>
          <a:blip r:embed="rId1"/>
          <a:stretch>
            <a:fillRect/>
          </a:stretch>
        </p:blipFill>
        <p:spPr>
          <a:xfrm>
            <a:off x="7053682" y="1978762"/>
            <a:ext cx="4453128" cy="3440887"/>
          </a:xfrm>
          <a:prstGeom prst="rect">
            <a:avLst/>
          </a:prstGeom>
        </p:spPr>
      </p:pic>
      <p:sp>
        <p:nvSpPr>
          <p:cNvPr id="6" name="Text 3"/>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kiro.dev/ide (mục Common questions); kiro.dev/blog/introducing-kiro-crew</a:t>
            </a:r>
            <a:endParaRPr lang="en-US" sz="940" dirty="0"/>
          </a:p>
        </p:txBody>
      </p:sp>
      <p:sp>
        <p:nvSpPr>
          <p:cNvPr id="7" name="Text 4"/>
          <p:cNvSpPr txBox="1"/>
          <p:nvPr/>
        </p:nvSpPr>
        <p:spPr>
          <a:xfrm>
            <a:off x="10540289" y="6515100"/>
            <a:ext cx="985723"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15 / 30</a:t>
            </a:r>
            <a:endParaRPr lang="en-US" sz="9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720986" y="209398"/>
            <a:ext cx="1820570"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a:t>
            </a:r>
            <a:endParaRPr lang="en-US" sz="1050" dirty="0"/>
          </a:p>
        </p:txBody>
      </p:sp>
      <p:sp>
        <p:nvSpPr>
          <p:cNvPr id="3" name="Text 1"/>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Model trong Kiro</a:t>
            </a:r>
            <a:endParaRPr lang="en-US" sz="25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150315"/>
          <a:ext cx="10821010" cy="914400"/>
        </p:xfrm>
        <a:graphic>
          <a:graphicData uri="http://schemas.openxmlformats.org/drawingml/2006/table">
            <a:tbl>
              <a:tblPr/>
              <a:tblGrid>
                <a:gridCol w="1619402"/>
                <a:gridCol w="9201607"/>
              </a:tblGrid>
              <a:tr h="403250">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Nhóm</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Model và hệ số credit (so với Auto = 1.0x)</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Auto</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Tự chọn model phù hợp cho từng task, cân bằng chất lượng và chi phí. </a:t>
                      </a:r>
                      <a:pPr algn="l" indent="0" marL="0">
                        <a:buNone/>
                      </a:pPr>
                      <a:r>
                        <a:rPr lang="en-US" sz="1280" b="1" dirty="0">
                          <a:solidFill>
                            <a:srgbClr val="1D2433"/>
                          </a:solidFill>
                          <a:latin typeface="Arial" pitchFamily="34" charset="0"/>
                          <a:ea typeface="Arial" pitchFamily="34" charset="-122"/>
                          <a:cs typeface="Arial" pitchFamily="34" charset="-120"/>
                        </a:rPr>
                        <a:t>1.0x</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Anthropic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Claude Opus 5.5 </a:t>
                      </a:r>
                      <a:pPr algn="l" indent="0" marL="0">
                        <a:buNone/>
                      </a:pPr>
                      <a:r>
                        <a:rPr lang="en-US" sz="1280" b="1" dirty="0">
                          <a:solidFill>
                            <a:srgbClr val="1D2433"/>
                          </a:solidFill>
                          <a:latin typeface="Arial" pitchFamily="34" charset="0"/>
                          <a:ea typeface="Arial" pitchFamily="34" charset="-122"/>
                          <a:cs typeface="Arial" pitchFamily="34" charset="-120"/>
                        </a:rPr>
                        <a:t>2.0x</a:t>
                      </a:r>
                      <a:pPr algn="l" indent="0" marL="0">
                        <a:buNone/>
                      </a:pPr>
                      <a:r>
                        <a:rPr lang="en-US" sz="1280" dirty="0">
                          <a:solidFill>
                            <a:srgbClr val="3D4659"/>
                          </a:solidFill>
                          <a:latin typeface="Arial" pitchFamily="34" charset="0"/>
                          <a:ea typeface="Arial" pitchFamily="34" charset="-122"/>
                          <a:cs typeface="Arial" pitchFamily="34" charset="-120"/>
                        </a:rPr>
                        <a:t>, Sonnet 5.5 </a:t>
                      </a:r>
                      <a:pPr algn="l" indent="0" marL="0">
                        <a:buNone/>
                      </a:pPr>
                      <a:r>
                        <a:rPr lang="en-US" sz="1280" b="1" dirty="0">
                          <a:solidFill>
                            <a:srgbClr val="1D2433"/>
                          </a:solidFill>
                          <a:latin typeface="Arial" pitchFamily="34" charset="0"/>
                          <a:ea typeface="Arial" pitchFamily="34" charset="-122"/>
                          <a:cs typeface="Arial" pitchFamily="34" charset="-120"/>
                        </a:rPr>
                        <a:t>1.3x</a:t>
                      </a:r>
                      <a:pPr algn="l" indent="0" marL="0">
                        <a:buNone/>
                      </a:pPr>
                      <a:r>
                        <a:rPr lang="en-US" sz="1280" dirty="0">
                          <a:solidFill>
                            <a:srgbClr val="3D4659"/>
                          </a:solidFill>
                          <a:latin typeface="Arial" pitchFamily="34" charset="0"/>
                          <a:ea typeface="Arial" pitchFamily="34" charset="-122"/>
                          <a:cs typeface="Arial" pitchFamily="34" charset="-120"/>
                        </a:rPr>
                        <a:t>, Haiku 4.5 </a:t>
                      </a:r>
                      <a:pPr algn="l" indent="0" marL="0">
                        <a:buNone/>
                      </a:pPr>
                      <a:r>
                        <a:rPr lang="en-US" sz="1280" b="1" dirty="0">
                          <a:solidFill>
                            <a:srgbClr val="1D2433"/>
                          </a:solidFill>
                          <a:latin typeface="Arial" pitchFamily="34" charset="0"/>
                          <a:ea typeface="Arial" pitchFamily="34" charset="-122"/>
                          <a:cs typeface="Arial" pitchFamily="34" charset="-120"/>
                        </a:rPr>
                        <a:t>0.4x</a:t>
                      </a:r>
                      <a:pPr algn="l" indent="0" marL="0">
                        <a:buNone/>
                      </a:pPr>
                      <a:r>
                        <a:rPr lang="en-US" sz="1280" dirty="0">
                          <a:solidFill>
                            <a:srgbClr val="3D4659"/>
                          </a:solidFill>
                          <a:latin typeface="Arial" pitchFamily="34" charset="0"/>
                          <a:ea typeface="Arial" pitchFamily="34" charset="-122"/>
                          <a:cs typeface="Arial" pitchFamily="34" charset="-120"/>
                        </a:rPr>
                        <a:t>. Các bản trước: Opus 5, 4.8, 4.7, 4.6, 4.5 </a:t>
                      </a:r>
                      <a:pPr algn="l" indent="0" marL="0">
                        <a:buNone/>
                      </a:pPr>
                      <a:r>
                        <a:rPr lang="en-US" sz="1280" b="1" dirty="0">
                          <a:solidFill>
                            <a:srgbClr val="1D2433"/>
                          </a:solidFill>
                          <a:latin typeface="Arial" pitchFamily="34" charset="0"/>
                          <a:ea typeface="Arial" pitchFamily="34" charset="-122"/>
                          <a:cs typeface="Arial" pitchFamily="34" charset="-120"/>
                        </a:rPr>
                        <a:t>2.2x</a:t>
                      </a:r>
                      <a:pPr algn="l" indent="0" marL="0">
                        <a:buNone/>
                      </a:pPr>
                      <a:r>
                        <a:rPr lang="en-US" sz="1280" dirty="0">
                          <a:solidFill>
                            <a:srgbClr val="3D4659"/>
                          </a:solidFill>
                          <a:latin typeface="Arial" pitchFamily="34" charset="0"/>
                          <a:ea typeface="Arial" pitchFamily="34" charset="-122"/>
                          <a:cs typeface="Arial" pitchFamily="34" charset="-120"/>
                        </a:rPr>
                        <a:t>; Sonnet 5, 4.6, 4.5, 4.0 </a:t>
                      </a:r>
                      <a:pPr algn="l" indent="0" marL="0">
                        <a:buNone/>
                      </a:pPr>
                      <a:r>
                        <a:rPr lang="en-US" sz="1280" b="1" dirty="0">
                          <a:solidFill>
                            <a:srgbClr val="1D2433"/>
                          </a:solidFill>
                          <a:latin typeface="Arial" pitchFamily="34" charset="0"/>
                          <a:ea typeface="Arial" pitchFamily="34" charset="-122"/>
                          <a:cs typeface="Arial" pitchFamily="34" charset="-120"/>
                        </a:rPr>
                        <a:t>1.3x</a:t>
                      </a:r>
                      <a:pPr algn="l" indent="0" marL="0">
                        <a:buNone/>
                      </a:pPr>
                      <a:r>
                        <a:rPr lang="en-US" sz="1280" dirty="0">
                          <a:solidFill>
                            <a:srgbClr val="3D4659"/>
                          </a:solidFill>
                          <a:latin typeface="Arial" pitchFamily="34" charset="0"/>
                          <a:ea typeface="Arial" pitchFamily="34" charset="-122"/>
                          <a:cs typeface="Arial" pitchFamily="34" charset="-120"/>
                        </a:rPr>
                        <a:t>. Claude Fable 5.1 </a:t>
                      </a:r>
                      <a:pPr algn="l" indent="0" marL="0">
                        <a:buNone/>
                      </a:pPr>
                      <a:r>
                        <a:rPr lang="en-US" sz="1280" b="1" dirty="0">
                          <a:solidFill>
                            <a:srgbClr val="1D2433"/>
                          </a:solidFill>
                          <a:latin typeface="Arial" pitchFamily="34" charset="0"/>
                          <a:ea typeface="Arial" pitchFamily="34" charset="-122"/>
                          <a:cs typeface="Arial" pitchFamily="34" charset="-120"/>
                        </a:rPr>
                        <a:t>6x</a:t>
                      </a:r>
                      <a:pPr algn="l" indent="0" marL="0">
                        <a:buNone/>
                      </a:pPr>
                      <a:r>
                        <a:rPr lang="en-US" sz="1280" dirty="0">
                          <a:solidFill>
                            <a:srgbClr val="3D4659"/>
                          </a:solidFill>
                          <a:latin typeface="Arial" pitchFamily="34" charset="0"/>
                          <a:ea typeface="Arial" pitchFamily="34" charset="-122"/>
                          <a:cs typeface="Arial" pitchFamily="34" charset="-120"/>
                        </a:rPr>
                        <a:t> đang preview cho Kiro Enterprise.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OpenAI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GPT-5.6 Sol </a:t>
                      </a:r>
                      <a:pPr algn="l" indent="0" marL="0">
                        <a:buNone/>
                      </a:pPr>
                      <a:r>
                        <a:rPr lang="en-US" sz="1280" b="1" dirty="0">
                          <a:solidFill>
                            <a:srgbClr val="1D2433"/>
                          </a:solidFill>
                          <a:latin typeface="Arial" pitchFamily="34" charset="0"/>
                          <a:ea typeface="Arial" pitchFamily="34" charset="-122"/>
                          <a:cs typeface="Arial" pitchFamily="34" charset="-120"/>
                        </a:rPr>
                        <a:t>4.4x</a:t>
                      </a:r>
                      <a:pPr algn="l" indent="0" marL="0">
                        <a:buNone/>
                      </a:pPr>
                      <a:r>
                        <a:rPr lang="en-US" sz="1280" dirty="0">
                          <a:solidFill>
                            <a:srgbClr val="3D4659"/>
                          </a:solidFill>
                          <a:latin typeface="Arial" pitchFamily="34" charset="0"/>
                          <a:ea typeface="Arial" pitchFamily="34" charset="-122"/>
                          <a:cs typeface="Arial" pitchFamily="34" charset="-120"/>
                        </a:rPr>
                        <a:t>, Terra </a:t>
                      </a:r>
                      <a:pPr algn="l" indent="0" marL="0">
                        <a:buNone/>
                      </a:pPr>
                      <a:r>
                        <a:rPr lang="en-US" sz="1280" b="1" dirty="0">
                          <a:solidFill>
                            <a:srgbClr val="1D2433"/>
                          </a:solidFill>
                          <a:latin typeface="Arial" pitchFamily="34" charset="0"/>
                          <a:ea typeface="Arial" pitchFamily="34" charset="-122"/>
                          <a:cs typeface="Arial" pitchFamily="34" charset="-120"/>
                        </a:rPr>
                        <a:t>2.2x</a:t>
                      </a:r>
                      <a:pPr algn="l" indent="0" marL="0">
                        <a:buNone/>
                      </a:pPr>
                      <a:r>
                        <a:rPr lang="en-US" sz="1280" dirty="0">
                          <a:solidFill>
                            <a:srgbClr val="3D4659"/>
                          </a:solidFill>
                          <a:latin typeface="Arial" pitchFamily="34" charset="0"/>
                          <a:ea typeface="Arial" pitchFamily="34" charset="-122"/>
                          <a:cs typeface="Arial" pitchFamily="34" charset="-120"/>
                        </a:rPr>
                        <a:t>, Luna </a:t>
                      </a:r>
                      <a:pPr algn="l" indent="0" marL="0">
                        <a:buNone/>
                      </a:pPr>
                      <a:r>
                        <a:rPr lang="en-US" sz="1280" b="1" dirty="0">
                          <a:solidFill>
                            <a:srgbClr val="1D2433"/>
                          </a:solidFill>
                          <a:latin typeface="Arial" pitchFamily="34" charset="0"/>
                          <a:ea typeface="Arial" pitchFamily="34" charset="-122"/>
                          <a:cs typeface="Arial" pitchFamily="34" charset="-120"/>
                        </a:rPr>
                        <a:t>0.6x</a:t>
                      </a:r>
                      <a:pPr algn="l" indent="0" marL="0">
                        <a:buNone/>
                      </a:pPr>
                      <a:r>
                        <a:rPr lang="en-US" sz="1280" dirty="0">
                          <a:solidFill>
                            <a:srgbClr val="3D4659"/>
                          </a:solidFill>
                          <a:latin typeface="Arial" pitchFamily="34" charset="0"/>
                          <a:ea typeface="Arial" pitchFamily="34" charset="-122"/>
                          <a:cs typeface="Arial" pitchFamily="34" charset="-120"/>
                        </a:rPr>
                        <a:t>. Request trên 272K token tính gấp đôi.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Model khác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Kimi K3 </a:t>
                      </a:r>
                      <a:pPr algn="l" indent="0" marL="0">
                        <a:buNone/>
                      </a:pPr>
                      <a:r>
                        <a:rPr lang="en-US" sz="1280" b="1" dirty="0">
                          <a:solidFill>
                            <a:srgbClr val="1D2433"/>
                          </a:solidFill>
                          <a:latin typeface="Arial" pitchFamily="34" charset="0"/>
                          <a:ea typeface="Arial" pitchFamily="34" charset="-122"/>
                          <a:cs typeface="Arial" pitchFamily="34" charset="-120"/>
                        </a:rPr>
                        <a:t>2.4x</a:t>
                      </a:r>
                      <a:pPr algn="l" indent="0" marL="0">
                        <a:buNone/>
                      </a:pPr>
                      <a:r>
                        <a:rPr lang="en-US" sz="1280" dirty="0">
                          <a:solidFill>
                            <a:srgbClr val="3D4659"/>
                          </a:solidFill>
                          <a:latin typeface="Arial" pitchFamily="34" charset="0"/>
                          <a:ea typeface="Arial" pitchFamily="34" charset="-122"/>
                          <a:cs typeface="Arial" pitchFamily="34" charset="-120"/>
                        </a:rPr>
                        <a:t>, GLM-5 </a:t>
                      </a:r>
                      <a:pPr algn="l" indent="0" marL="0">
                        <a:buNone/>
                      </a:pPr>
                      <a:r>
                        <a:rPr lang="en-US" sz="1280" b="1" dirty="0">
                          <a:solidFill>
                            <a:srgbClr val="1D2433"/>
                          </a:solidFill>
                          <a:latin typeface="Arial" pitchFamily="34" charset="0"/>
                          <a:ea typeface="Arial" pitchFamily="34" charset="-122"/>
                          <a:cs typeface="Arial" pitchFamily="34" charset="-120"/>
                        </a:rPr>
                        <a:t>0.5x</a:t>
                      </a:r>
                      <a:pPr algn="l" indent="0" marL="0">
                        <a:buNone/>
                      </a:pPr>
                      <a:r>
                        <a:rPr lang="en-US" sz="1280" dirty="0">
                          <a:solidFill>
                            <a:srgbClr val="3D4659"/>
                          </a:solidFill>
                          <a:latin typeface="Arial" pitchFamily="34" charset="0"/>
                          <a:ea typeface="Arial" pitchFamily="34" charset="-122"/>
                          <a:cs typeface="Arial" pitchFamily="34" charset="-120"/>
                        </a:rPr>
                        <a:t>, DeepSeek 3.2 </a:t>
                      </a:r>
                      <a:pPr algn="l" indent="0" marL="0">
                        <a:buNone/>
                      </a:pPr>
                      <a:r>
                        <a:rPr lang="en-US" sz="1280" b="1" dirty="0">
                          <a:solidFill>
                            <a:srgbClr val="1D2433"/>
                          </a:solidFill>
                          <a:latin typeface="Arial" pitchFamily="34" charset="0"/>
                          <a:ea typeface="Arial" pitchFamily="34" charset="-122"/>
                          <a:cs typeface="Arial" pitchFamily="34" charset="-120"/>
                        </a:rPr>
                        <a:t>0.25x</a:t>
                      </a:r>
                      <a:pPr algn="l" indent="0" marL="0">
                        <a:buNone/>
                      </a:pPr>
                      <a:r>
                        <a:rPr lang="en-US" sz="1280" dirty="0">
                          <a:solidFill>
                            <a:srgbClr val="3D4659"/>
                          </a:solidFill>
                          <a:latin typeface="Arial" pitchFamily="34" charset="0"/>
                          <a:ea typeface="Arial" pitchFamily="34" charset="-122"/>
                          <a:cs typeface="Arial" pitchFamily="34" charset="-120"/>
                        </a:rPr>
                        <a:t>, MiniMax M2.5 </a:t>
                      </a:r>
                      <a:pPr algn="l" indent="0" marL="0">
                        <a:buNone/>
                      </a:pPr>
                      <a:r>
                        <a:rPr lang="en-US" sz="1280" b="1" dirty="0">
                          <a:solidFill>
                            <a:srgbClr val="1D2433"/>
                          </a:solidFill>
                          <a:latin typeface="Arial" pitchFamily="34" charset="0"/>
                          <a:ea typeface="Arial" pitchFamily="34" charset="-122"/>
                          <a:cs typeface="Arial" pitchFamily="34" charset="-120"/>
                        </a:rPr>
                        <a:t>0.25x</a:t>
                      </a:r>
                      <a:pPr algn="l" indent="0" marL="0">
                        <a:buNone/>
                      </a:pPr>
                      <a:r>
                        <a:rPr lang="en-US" sz="1280" dirty="0">
                          <a:solidFill>
                            <a:srgbClr val="3D4659"/>
                          </a:solidFill>
                          <a:latin typeface="Arial" pitchFamily="34" charset="0"/>
                          <a:ea typeface="Arial" pitchFamily="34" charset="-122"/>
                          <a:cs typeface="Arial" pitchFamily="34" charset="-120"/>
                        </a:rPr>
                        <a:t>, MiniMax M2.1 </a:t>
                      </a:r>
                      <a:pPr algn="l" indent="0" marL="0">
                        <a:buNone/>
                      </a:pPr>
                      <a:r>
                        <a:rPr lang="en-US" sz="1280" b="1" dirty="0">
                          <a:solidFill>
                            <a:srgbClr val="1D2433"/>
                          </a:solidFill>
                          <a:latin typeface="Arial" pitchFamily="34" charset="0"/>
                          <a:ea typeface="Arial" pitchFamily="34" charset="-122"/>
                          <a:cs typeface="Arial" pitchFamily="34" charset="-120"/>
                        </a:rPr>
                        <a:t>0.15x</a:t>
                      </a:r>
                      <a:pPr algn="l" indent="0" marL="0">
                        <a:buNone/>
                      </a:pPr>
                      <a:r>
                        <a:rPr lang="en-US" sz="1280" dirty="0">
                          <a:solidFill>
                            <a:srgbClr val="3D4659"/>
                          </a:solidFill>
                          <a:latin typeface="Arial" pitchFamily="34" charset="0"/>
                          <a:ea typeface="Arial" pitchFamily="34" charset="-122"/>
                          <a:cs typeface="Arial" pitchFamily="34" charset="-120"/>
                        </a:rPr>
                        <a:t>, Qwen3 Coder Next </a:t>
                      </a:r>
                      <a:pPr algn="l" indent="0" marL="0">
                        <a:buNone/>
                      </a:pPr>
                      <a:r>
                        <a:rPr lang="en-US" sz="1280" b="1" dirty="0">
                          <a:solidFill>
                            <a:srgbClr val="1D2433"/>
                          </a:solidFill>
                          <a:latin typeface="Arial" pitchFamily="34" charset="0"/>
                          <a:ea typeface="Arial" pitchFamily="34" charset="-122"/>
                          <a:cs typeface="Arial" pitchFamily="34" charset="-120"/>
                        </a:rPr>
                        <a:t>0.05x</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Gói Free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Auto, Claude Sonnet 4.5 và 4.0, DeepSeek 3.2, MiniMax M2.5 và M2.1, GLM-5, Qwen3 Coder Next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sp>
        <p:nvSpPr>
          <p:cNvPr id="5" name="Text 2"/>
          <p:cNvSpPr txBox="1"/>
          <p:nvPr/>
        </p:nvSpPr>
        <p:spPr>
          <a:xfrm>
            <a:off x="685800" y="3956609"/>
            <a:ext cx="11036808" cy="742493"/>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Đổi model được trên IDE, CLI, Web, Crew và Mobile. Chọn mức suy luận (reasoning effort) trên IDE, CLI và Web.</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Context từ 128K đến 1M token tuỳ model. Phần lớn có ở region US và EU; một số chỉ ở US.</a:t>
            </a:r>
            <a:endParaRPr lang="en-US" sz="1350" dirty="0"/>
          </a:p>
        </p:txBody>
      </p:sp>
      <p:sp>
        <p:nvSpPr>
          <p:cNvPr id="6" name="Text 3"/>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kiro.dev/docs/models (cập nhật 22/10/2026). Danh sách và hệ số có thể thay đổi.</a:t>
            </a:r>
            <a:endParaRPr lang="en-US" sz="940" dirty="0"/>
          </a:p>
        </p:txBody>
      </p:sp>
      <p:sp>
        <p:nvSpPr>
          <p:cNvPr id="7" name="Text 4"/>
          <p:cNvSpPr txBox="1"/>
          <p:nvPr/>
        </p:nvSpPr>
        <p:spPr>
          <a:xfrm>
            <a:off x="10538460" y="6515100"/>
            <a:ext cx="986638"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16 / 30</a:t>
            </a:r>
            <a:endParaRPr lang="en-US" sz="9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150315"/>
            <a:ext cx="2072945" cy="895198"/>
          </a:xfrm>
          <a:prstGeom prst="roundRect">
            <a:avLst>
              <a:gd name="adj" fmla="val 6129"/>
            </a:avLst>
          </a:prstGeom>
          <a:solidFill>
            <a:srgbClr val="FAFAFC"/>
          </a:solidFill>
          <a:ln w="9525">
            <a:solidFill>
              <a:srgbClr val="D9DCE4"/>
            </a:solidFill>
            <a:prstDash val="solid"/>
          </a:ln>
        </p:spPr>
      </p:sp>
      <p:sp>
        <p:nvSpPr>
          <p:cNvPr id="3" name="Shape 1"/>
          <p:cNvSpPr/>
          <p:nvPr/>
        </p:nvSpPr>
        <p:spPr>
          <a:xfrm>
            <a:off x="2873045" y="1150315"/>
            <a:ext cx="2072945" cy="895198"/>
          </a:xfrm>
          <a:prstGeom prst="roundRect">
            <a:avLst>
              <a:gd name="adj" fmla="val 6129"/>
            </a:avLst>
          </a:prstGeom>
          <a:solidFill>
            <a:srgbClr val="FAFAFC"/>
          </a:solidFill>
          <a:ln w="9525">
            <a:solidFill>
              <a:srgbClr val="D9DCE4"/>
            </a:solidFill>
            <a:prstDash val="solid"/>
          </a:ln>
        </p:spPr>
      </p:sp>
      <p:sp>
        <p:nvSpPr>
          <p:cNvPr id="4" name="Shape 2"/>
          <p:cNvSpPr/>
          <p:nvPr/>
        </p:nvSpPr>
        <p:spPr>
          <a:xfrm>
            <a:off x="5059375" y="1150315"/>
            <a:ext cx="2072945" cy="895198"/>
          </a:xfrm>
          <a:prstGeom prst="roundRect">
            <a:avLst>
              <a:gd name="adj" fmla="val 6129"/>
            </a:avLst>
          </a:prstGeom>
          <a:solidFill>
            <a:srgbClr val="FAFAFC"/>
          </a:solidFill>
          <a:ln w="9525">
            <a:solidFill>
              <a:srgbClr val="D9DCE4"/>
            </a:solidFill>
            <a:prstDash val="solid"/>
          </a:ln>
        </p:spPr>
      </p:sp>
      <p:sp>
        <p:nvSpPr>
          <p:cNvPr id="5" name="Shape 3"/>
          <p:cNvSpPr/>
          <p:nvPr/>
        </p:nvSpPr>
        <p:spPr>
          <a:xfrm>
            <a:off x="7246620" y="1150315"/>
            <a:ext cx="2072945" cy="895198"/>
          </a:xfrm>
          <a:prstGeom prst="roundRect">
            <a:avLst>
              <a:gd name="adj" fmla="val 6129"/>
            </a:avLst>
          </a:prstGeom>
          <a:solidFill>
            <a:srgbClr val="FAFAFC"/>
          </a:solidFill>
          <a:ln w="9525">
            <a:solidFill>
              <a:srgbClr val="D9DCE4"/>
            </a:solidFill>
            <a:prstDash val="solid"/>
          </a:ln>
        </p:spPr>
      </p:sp>
      <p:sp>
        <p:nvSpPr>
          <p:cNvPr id="6" name="Shape 4"/>
          <p:cNvSpPr/>
          <p:nvPr/>
        </p:nvSpPr>
        <p:spPr>
          <a:xfrm>
            <a:off x="9432950" y="1150315"/>
            <a:ext cx="2072945" cy="895198"/>
          </a:xfrm>
          <a:prstGeom prst="roundRect">
            <a:avLst>
              <a:gd name="adj" fmla="val 6129"/>
            </a:avLst>
          </a:prstGeom>
          <a:solidFill>
            <a:srgbClr val="FAFAFC"/>
          </a:solidFill>
          <a:ln w="9525">
            <a:solidFill>
              <a:srgbClr val="D9DCE4"/>
            </a:solidFill>
            <a:prstDash val="solid"/>
          </a:ln>
        </p:spPr>
      </p:sp>
      <p:sp>
        <p:nvSpPr>
          <p:cNvPr id="7" name="Text 5"/>
          <p:cNvSpPr txBox="1"/>
          <p:nvPr/>
        </p:nvSpPr>
        <p:spPr>
          <a:xfrm>
            <a:off x="9041587" y="209398"/>
            <a:ext cx="2513686"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IDE và CLI</a:t>
            </a:r>
            <a:endParaRPr lang="en-US" sz="1050" dirty="0"/>
          </a:p>
        </p:txBody>
      </p:sp>
      <p:sp>
        <p:nvSpPr>
          <p:cNvPr id="8" name="Text 6"/>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Spec-driven development</a:t>
            </a:r>
            <a:endParaRPr lang="en-US" sz="2550" dirty="0"/>
          </a:p>
        </p:txBody>
      </p:sp>
      <p:sp>
        <p:nvSpPr>
          <p:cNvPr id="9" name="Text 7"/>
          <p:cNvSpPr txBox="1"/>
          <p:nvPr/>
        </p:nvSpPr>
        <p:spPr>
          <a:xfrm>
            <a:off x="819302" y="1264615"/>
            <a:ext cx="1841602" cy="912571"/>
          </a:xfrm>
          <a:prstGeom prst="rect">
            <a:avLst/>
          </a:prstGeom>
          <a:noFill/>
          <a:ln/>
        </p:spPr>
        <p:txBody>
          <a:bodyPr wrap="square" lIns="0" tIns="0" rIns="0" bIns="0" rtlCol="0" anchor="t"/>
          <a:lstStyle/>
          <a:p>
            <a:pPr algn="l" indent="0" marL="0">
              <a:lnSpc>
                <a:spcPct val="117000"/>
              </a:lnSpc>
              <a:buNone/>
            </a:pPr>
            <a:r>
              <a:rPr lang="en-US" sz="1280" b="1" dirty="0">
                <a:solidFill>
                  <a:srgbClr val="1D2433"/>
                </a:solidFill>
                <a:latin typeface="Arial" pitchFamily="34" charset="0"/>
                <a:ea typeface="Arial" pitchFamily="34" charset="-122"/>
                <a:cs typeface="Arial" pitchFamily="34" charset="-120"/>
              </a:rPr>
              <a:t>Yêu cầu</a:t>
            </a:r>
            <a:endParaRPr lang="en-US" sz="1280" dirty="0"/>
          </a:p>
          <a:p>
            <a:pPr algn="l" indent="0" marL="0">
              <a:lnSpc>
                <a:spcPct val="117000"/>
              </a:lnSpc>
              <a:buNone/>
            </a:pPr>
            <a:r>
              <a:rPr lang="en-US" sz="1130" dirty="0">
                <a:solidFill>
                  <a:srgbClr val="3D4659"/>
                </a:solidFill>
                <a:latin typeface="Arial" pitchFamily="34" charset="0"/>
                <a:ea typeface="Arial" pitchFamily="34" charset="-122"/>
                <a:cs typeface="Arial" pitchFamily="34" charset="-120"/>
              </a:rPr>
              <a:t>Một câu mô tả tính năng cần làm</a:t>
            </a:r>
            <a:endParaRPr lang="en-US" sz="1280" dirty="0"/>
          </a:p>
        </p:txBody>
      </p:sp>
      <p:sp>
        <p:nvSpPr>
          <p:cNvPr id="10" name="Text 8"/>
          <p:cNvSpPr txBox="1"/>
          <p:nvPr/>
        </p:nvSpPr>
        <p:spPr>
          <a:xfrm>
            <a:off x="3005633" y="1264615"/>
            <a:ext cx="1841602" cy="912571"/>
          </a:xfrm>
          <a:prstGeom prst="rect">
            <a:avLst/>
          </a:prstGeom>
          <a:noFill/>
          <a:ln/>
        </p:spPr>
        <p:txBody>
          <a:bodyPr wrap="square" lIns="0" tIns="0" rIns="0" bIns="0" rtlCol="0" anchor="t"/>
          <a:lstStyle/>
          <a:p>
            <a:pPr algn="l" indent="0" marL="0">
              <a:lnSpc>
                <a:spcPct val="117000"/>
              </a:lnSpc>
              <a:buNone/>
            </a:pPr>
            <a:r>
              <a:rPr lang="en-US" sz="1280" b="1" dirty="0">
                <a:solidFill>
                  <a:srgbClr val="1D2433"/>
                </a:solidFill>
                <a:latin typeface="Arial" pitchFamily="34" charset="0"/>
                <a:ea typeface="Arial" pitchFamily="34" charset="-122"/>
                <a:cs typeface="Arial" pitchFamily="34" charset="-120"/>
              </a:rPr>
              <a:t>requirements.md</a:t>
            </a:r>
            <a:endParaRPr lang="en-US" sz="1280" dirty="0"/>
          </a:p>
          <a:p>
            <a:pPr algn="l" indent="0" marL="0">
              <a:lnSpc>
                <a:spcPct val="117000"/>
              </a:lnSpc>
              <a:buNone/>
            </a:pPr>
            <a:r>
              <a:rPr lang="en-US" sz="1130" dirty="0">
                <a:solidFill>
                  <a:srgbClr val="3D4659"/>
                </a:solidFill>
                <a:latin typeface="Arial" pitchFamily="34" charset="0"/>
                <a:ea typeface="Arial" pitchFamily="34" charset="-122"/>
                <a:cs typeface="Arial" pitchFamily="34" charset="-120"/>
              </a:rPr>
              <a:t>User story, tiêu chí chấp nhận theo cú pháp EARS</a:t>
            </a:r>
            <a:endParaRPr lang="en-US" sz="1280" dirty="0"/>
          </a:p>
        </p:txBody>
      </p:sp>
      <p:sp>
        <p:nvSpPr>
          <p:cNvPr id="11" name="Text 9"/>
          <p:cNvSpPr txBox="1"/>
          <p:nvPr/>
        </p:nvSpPr>
        <p:spPr>
          <a:xfrm>
            <a:off x="5192878" y="1264615"/>
            <a:ext cx="1841602" cy="912571"/>
          </a:xfrm>
          <a:prstGeom prst="rect">
            <a:avLst/>
          </a:prstGeom>
          <a:noFill/>
          <a:ln/>
        </p:spPr>
        <p:txBody>
          <a:bodyPr wrap="square" lIns="0" tIns="0" rIns="0" bIns="0" rtlCol="0" anchor="t"/>
          <a:lstStyle/>
          <a:p>
            <a:pPr algn="l" indent="0" marL="0">
              <a:lnSpc>
                <a:spcPct val="117000"/>
              </a:lnSpc>
              <a:buNone/>
            </a:pPr>
            <a:r>
              <a:rPr lang="en-US" sz="1280" b="1" dirty="0">
                <a:solidFill>
                  <a:srgbClr val="1D2433"/>
                </a:solidFill>
                <a:latin typeface="Arial" pitchFamily="34" charset="0"/>
                <a:ea typeface="Arial" pitchFamily="34" charset="-122"/>
                <a:cs typeface="Arial" pitchFamily="34" charset="-120"/>
              </a:rPr>
              <a:t>design.md</a:t>
            </a:r>
            <a:endParaRPr lang="en-US" sz="1280" dirty="0"/>
          </a:p>
          <a:p>
            <a:pPr algn="l" indent="0" marL="0">
              <a:lnSpc>
                <a:spcPct val="117000"/>
              </a:lnSpc>
              <a:buNone/>
            </a:pPr>
            <a:r>
              <a:rPr lang="en-US" sz="1130" dirty="0">
                <a:solidFill>
                  <a:srgbClr val="3D4659"/>
                </a:solidFill>
                <a:latin typeface="Arial" pitchFamily="34" charset="0"/>
                <a:ea typeface="Arial" pitchFamily="34" charset="-122"/>
                <a:cs typeface="Arial" pitchFamily="34" charset="-120"/>
              </a:rPr>
              <a:t>Thiết kế, ràng buộc, mô hình dữ liệu</a:t>
            </a:r>
            <a:endParaRPr lang="en-US" sz="1280" dirty="0"/>
          </a:p>
        </p:txBody>
      </p:sp>
      <p:sp>
        <p:nvSpPr>
          <p:cNvPr id="12" name="Text 10"/>
          <p:cNvSpPr txBox="1"/>
          <p:nvPr/>
        </p:nvSpPr>
        <p:spPr>
          <a:xfrm>
            <a:off x="7380122" y="1264615"/>
            <a:ext cx="1841602" cy="912571"/>
          </a:xfrm>
          <a:prstGeom prst="rect">
            <a:avLst/>
          </a:prstGeom>
          <a:noFill/>
          <a:ln/>
        </p:spPr>
        <p:txBody>
          <a:bodyPr wrap="square" lIns="0" tIns="0" rIns="0" bIns="0" rtlCol="0" anchor="t"/>
          <a:lstStyle/>
          <a:p>
            <a:pPr algn="l" indent="0" marL="0">
              <a:lnSpc>
                <a:spcPct val="117000"/>
              </a:lnSpc>
              <a:buNone/>
            </a:pPr>
            <a:r>
              <a:rPr lang="en-US" sz="1280" b="1" dirty="0">
                <a:solidFill>
                  <a:srgbClr val="1D2433"/>
                </a:solidFill>
                <a:latin typeface="Arial" pitchFamily="34" charset="0"/>
                <a:ea typeface="Arial" pitchFamily="34" charset="-122"/>
                <a:cs typeface="Arial" pitchFamily="34" charset="-120"/>
              </a:rPr>
              <a:t>tasks.md</a:t>
            </a:r>
            <a:endParaRPr lang="en-US" sz="1280" dirty="0"/>
          </a:p>
          <a:p>
            <a:pPr algn="l" indent="0" marL="0">
              <a:lnSpc>
                <a:spcPct val="117000"/>
              </a:lnSpc>
              <a:buNone/>
            </a:pPr>
            <a:r>
              <a:rPr lang="en-US" sz="1130" dirty="0">
                <a:solidFill>
                  <a:srgbClr val="3D4659"/>
                </a:solidFill>
                <a:latin typeface="Arial" pitchFamily="34" charset="0"/>
                <a:ea typeface="Arial" pitchFamily="34" charset="-122"/>
                <a:cs typeface="Arial" pitchFamily="34" charset="-120"/>
              </a:rPr>
              <a:t>Danh sách task, mỗi task gắn với yêu cầu</a:t>
            </a:r>
            <a:endParaRPr lang="en-US" sz="1280" dirty="0"/>
          </a:p>
        </p:txBody>
      </p:sp>
      <p:sp>
        <p:nvSpPr>
          <p:cNvPr id="13" name="Text 11"/>
          <p:cNvSpPr txBox="1"/>
          <p:nvPr/>
        </p:nvSpPr>
        <p:spPr>
          <a:xfrm>
            <a:off x="9566453" y="1264615"/>
            <a:ext cx="1841602" cy="912571"/>
          </a:xfrm>
          <a:prstGeom prst="rect">
            <a:avLst/>
          </a:prstGeom>
          <a:noFill/>
          <a:ln/>
        </p:spPr>
        <p:txBody>
          <a:bodyPr wrap="square" lIns="0" tIns="0" rIns="0" bIns="0" rtlCol="0" anchor="t"/>
          <a:lstStyle/>
          <a:p>
            <a:pPr algn="l" indent="0" marL="0">
              <a:lnSpc>
                <a:spcPct val="117000"/>
              </a:lnSpc>
              <a:buNone/>
            </a:pPr>
            <a:r>
              <a:rPr lang="en-US" sz="1280" b="1" dirty="0">
                <a:solidFill>
                  <a:srgbClr val="1D2433"/>
                </a:solidFill>
                <a:latin typeface="Arial" pitchFamily="34" charset="0"/>
                <a:ea typeface="Arial" pitchFamily="34" charset="-122"/>
                <a:cs typeface="Arial" pitchFamily="34" charset="-120"/>
              </a:rPr>
              <a:t>Kiểm chứng</a:t>
            </a:r>
            <a:endParaRPr lang="en-US" sz="1280" dirty="0"/>
          </a:p>
          <a:p>
            <a:pPr algn="l" indent="0" marL="0">
              <a:lnSpc>
                <a:spcPct val="117000"/>
              </a:lnSpc>
              <a:buNone/>
            </a:pPr>
            <a:r>
              <a:rPr lang="en-US" sz="1130" dirty="0">
                <a:solidFill>
                  <a:srgbClr val="3D4659"/>
                </a:solidFill>
                <a:latin typeface="Arial" pitchFamily="34" charset="0"/>
                <a:ea typeface="Arial" pitchFamily="34" charset="-122"/>
                <a:cs typeface="Arial" pitchFamily="34" charset="-120"/>
              </a:rPr>
              <a:t>Property-based test so code với đặc tả</a:t>
            </a:r>
            <a:endParaRPr lang="en-US" sz="1280" dirty="0"/>
          </a:p>
        </p:txBody>
      </p:sp>
      <p:sp>
        <p:nvSpPr>
          <p:cNvPr id="14" name="Text 12"/>
          <p:cNvSpPr txBox="1"/>
          <p:nvPr/>
        </p:nvSpPr>
        <p:spPr>
          <a:xfrm>
            <a:off x="685800" y="2255825"/>
            <a:ext cx="5343754" cy="2118665"/>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Người dùng duyệt từng tài liệu trước khi agent viết code.</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Ba mức: chat trực tiếp cho việc nhỏ, Quick spec, hoặc spec đầy đủ cho tính năng lớn.</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Tài liệu lưu trong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.kiro/specs/</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dùng chung giữa IDE và CLI.</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Trên CLI (v3) dùng lệnh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/spec new &lt;tên&gt;</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t>
            </a:r>
            <a:endParaRPr lang="en-US" sz="143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67298" y="2255825"/>
          <a:ext cx="5238598" cy="914400"/>
        </p:xfrm>
        <a:graphic>
          <a:graphicData uri="http://schemas.openxmlformats.org/drawingml/2006/table">
            <a:tbl>
              <a:tblPr/>
              <a:tblGrid>
                <a:gridCol w="3144622"/>
                <a:gridCol w="657454"/>
                <a:gridCol w="651967"/>
                <a:gridCol w="784555"/>
              </a:tblGrid>
              <a:tr h="403250">
                <a:tc>
                  <a:txBody>
                    <a:bodyPr/>
                    <a:lstStyle/>
                    <a:p>
                      <a:pPr algn="l"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ctr" indent="0" marL="0">
                        <a:buNone/>
                      </a:pPr>
                      <a:r>
                        <a:rPr lang="en-US" sz="1280" b="1" dirty="0">
                          <a:solidFill>
                            <a:srgbClr val="1D2433"/>
                          </a:solidFill>
                          <a:latin typeface="Arial" pitchFamily="34" charset="0"/>
                          <a:ea typeface="Arial" pitchFamily="34" charset="-122"/>
                          <a:cs typeface="Arial" pitchFamily="34" charset="-120"/>
                        </a:rPr>
                        <a:t>IDE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ctr" indent="0" marL="0">
                        <a:buNone/>
                      </a:pPr>
                      <a:r>
                        <a:rPr lang="en-US" sz="1280" b="1" dirty="0">
                          <a:solidFill>
                            <a:srgbClr val="1D2433"/>
                          </a:solidFill>
                          <a:latin typeface="Arial" pitchFamily="34" charset="0"/>
                          <a:ea typeface="Arial" pitchFamily="34" charset="-122"/>
                          <a:cs typeface="Arial" pitchFamily="34" charset="-120"/>
                        </a:rPr>
                        <a:t>CLI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ctr" indent="0" marL="0">
                        <a:buNone/>
                      </a:pPr>
                      <a:r>
                        <a:rPr lang="en-US" sz="1280" b="1" dirty="0">
                          <a:solidFill>
                            <a:srgbClr val="1D2433"/>
                          </a:solidFill>
                          <a:latin typeface="Arial" pitchFamily="34" charset="0"/>
                          <a:ea typeface="Arial" pitchFamily="34" charset="-122"/>
                          <a:cs typeface="Arial" pitchFamily="34" charset="-120"/>
                        </a:rPr>
                        <a:t>Web</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r>
              <a:tr h="407822">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Feature, Bugfix, Quick spec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Chạy task song song</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Analyze Requirements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Property-based testing</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280" dirty="0">
                          <a:solidFill>
                            <a:srgbClr val="3D465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ctr"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sp>
        <p:nvSpPr>
          <p:cNvPr id="16" name="Text 13"/>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kiro.dev/docs/specs; kiro.dev/docs/cli/v3; kiro.dev/ide</a:t>
            </a:r>
            <a:endParaRPr lang="en-US" sz="940" dirty="0"/>
          </a:p>
        </p:txBody>
      </p:sp>
      <p:sp>
        <p:nvSpPr>
          <p:cNvPr id="17" name="Text 14"/>
          <p:cNvSpPr txBox="1"/>
          <p:nvPr/>
        </p:nvSpPr>
        <p:spPr>
          <a:xfrm>
            <a:off x="10545775" y="6515100"/>
            <a:ext cx="980237"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17 / 30</a:t>
            </a:r>
            <a:endParaRPr lang="en-US" sz="9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3797503"/>
          </a:xfrm>
          <a:prstGeom prst="roundRect">
            <a:avLst>
              <a:gd name="adj" fmla="val 1445"/>
            </a:avLst>
          </a:prstGeom>
          <a:solidFill>
            <a:srgbClr val="F6F7F9"/>
          </a:solidFill>
          <a:ln w="9525">
            <a:solidFill>
              <a:srgbClr val="D9DCE4"/>
            </a:solidFill>
            <a:prstDash val="solid"/>
          </a:ln>
        </p:spPr>
      </p:sp>
      <p:sp>
        <p:nvSpPr>
          <p:cNvPr id="3" name="Text 1"/>
          <p:cNvSpPr txBox="1"/>
          <p:nvPr/>
        </p:nvSpPr>
        <p:spPr>
          <a:xfrm>
            <a:off x="9041587" y="209398"/>
            <a:ext cx="2513686"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IDE và CLI</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Steering</a:t>
            </a:r>
            <a:endParaRPr lang="en-US" sz="2550" dirty="0"/>
          </a:p>
        </p:txBody>
      </p:sp>
      <p:sp>
        <p:nvSpPr>
          <p:cNvPr id="5" name="Text 3"/>
          <p:cNvSpPr txBox="1"/>
          <p:nvPr/>
        </p:nvSpPr>
        <p:spPr>
          <a:xfrm>
            <a:off x="685800" y="1150315"/>
            <a:ext cx="5343754" cy="4027932"/>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Các file markdown mô tả quy ước của dự án. Agent đọc trước khi làm việc nên không cần nhắc lại trong mỗi lần chat.</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Vị trí: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.kiro/steering/</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trong dự án, hoặc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~/.kiro/steering/</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dùng cho mọi dự án. Khi trùng, file của dự án được ưu tiên.</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Ba file cơ bản: product.md, tech.md, structure.md. IDE tạo được bằng "Generate Steering Docs".</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Chế độ nạp: always (mặc định), fileMatch theo mẫu đường dẫn, manual (gọi bằng #tên), auto.</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Nội dung được đưa nguyên văn vào ngữ cảnh, nên viết ngắn gọn.</a:t>
            </a:r>
            <a:endParaRPr lang="en-US" sz="1430" dirty="0"/>
          </a:p>
        </p:txBody>
      </p:sp>
      <p:sp>
        <p:nvSpPr>
          <p:cNvPr id="6" name="Text 4"/>
          <p:cNvSpPr txBox="1"/>
          <p:nvPr/>
        </p:nvSpPr>
        <p:spPr>
          <a:xfrm>
            <a:off x="6420002" y="1283818"/>
            <a:ext cx="5032858" cy="3992270"/>
          </a:xfrm>
          <a:prstGeom prst="rect">
            <a:avLst/>
          </a:prstGeom>
          <a:noFill/>
          <a:ln/>
        </p:spPr>
        <p:txBody>
          <a:bodyPr wrap="square" lIns="0" tIns="0" rIns="0" bIns="0" rtlCol="0" anchor="t"/>
          <a:lstStyle/>
          <a:p>
            <a:pPr algn="l" indent="0" marL="0">
              <a:lnSpc>
                <a:spcPct val="122000"/>
              </a:lnSpc>
              <a:buNone/>
            </a:pPr>
            <a:r>
              <a:rPr lang="en-US" sz="1050" dirty="0">
                <a:solidFill>
                  <a:srgbClr val="6B7489"/>
                </a:solidFill>
                <a:latin typeface="Courier New" pitchFamily="34" charset="0"/>
                <a:ea typeface="Courier New" pitchFamily="34" charset="-122"/>
                <a:cs typeface="Courier New" pitchFamily="34" charset="-120"/>
              </a:rPr>
              <a:t># .kiro/steering/tech.md  (ví dụ)</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inclusion: always</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Công nghệ</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Java 21, Quarkus 3.x, Maven</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Tiền tệ dùng BigDecimal,</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không dùng double</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Test: JUnit 5 + RestAssured</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Không thêm dependency khi</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chưa trao đổi</a:t>
            </a:r>
            <a:endParaRPr lang="en-US" sz="1050" dirty="0"/>
          </a:p>
          <a:p>
            <a:pPr algn="l" indent="0" marL="0">
              <a:lnSpc>
                <a:spcPct val="122000"/>
              </a:lnSpc>
              <a:buNone/>
            </a:pPr>
            <a:r>
              <a:rPr lang="en-US" sz="1050" dirty="0">
                <a:solidFill>
                  <a:srgbClr val="3D4659"/>
                </a:solidFill>
                <a:latin typeface="Arial" pitchFamily="34" charset="0"/>
                <a:ea typeface="Arial" pitchFamily="34" charset="-122"/>
                <a:cs typeface="Arial" pitchFamily="34" charset="-120"/>
              </a:rPr>
              <a:t> </a:t>
            </a:r>
            <a:endParaRPr lang="en-US" sz="1050" dirty="0"/>
          </a:p>
          <a:p>
            <a:pPr algn="l" indent="0" marL="0">
              <a:lnSpc>
                <a:spcPct val="122000"/>
              </a:lnSpc>
              <a:buNone/>
            </a:pPr>
            <a:r>
              <a:rPr lang="en-US" sz="1050" dirty="0">
                <a:solidFill>
                  <a:srgbClr val="6B7489"/>
                </a:solidFill>
                <a:latin typeface="Courier New" pitchFamily="34" charset="0"/>
                <a:ea typeface="Courier New" pitchFamily="34" charset="-122"/>
                <a:cs typeface="Courier New" pitchFamily="34" charset="-120"/>
              </a:rPr>
              <a:t># .kiro/steering/api-rules.md</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inclusion: fileMatch</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fileMatchPattern: "**/*Resource.java"</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p:txBody>
      </p:sp>
      <p:sp>
        <p:nvSpPr>
          <p:cNvPr id="7"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kiro.dev/docs/steering. Nội dung file là ví dụ do người trình bày soạn.</a:t>
            </a:r>
            <a:endParaRPr lang="en-US" sz="940" dirty="0"/>
          </a:p>
        </p:txBody>
      </p:sp>
      <p:sp>
        <p:nvSpPr>
          <p:cNvPr id="8" name="Text 6"/>
          <p:cNvSpPr txBox="1"/>
          <p:nvPr/>
        </p:nvSpPr>
        <p:spPr>
          <a:xfrm>
            <a:off x="10538460" y="6515100"/>
            <a:ext cx="986638"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18 / 30</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3384194"/>
          </a:xfrm>
          <a:prstGeom prst="roundRect">
            <a:avLst>
              <a:gd name="adj" fmla="val 1621"/>
            </a:avLst>
          </a:prstGeom>
          <a:solidFill>
            <a:srgbClr val="F6F7F9"/>
          </a:solidFill>
          <a:ln w="9525">
            <a:solidFill>
              <a:srgbClr val="D9DCE4"/>
            </a:solidFill>
            <a:prstDash val="solid"/>
          </a:ln>
        </p:spPr>
      </p:sp>
      <p:sp>
        <p:nvSpPr>
          <p:cNvPr id="3" name="Text 1"/>
          <p:cNvSpPr txBox="1"/>
          <p:nvPr/>
        </p:nvSpPr>
        <p:spPr>
          <a:xfrm>
            <a:off x="9041587" y="209398"/>
            <a:ext cx="2513686"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IDE và CLI</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Agent hooks</a:t>
            </a:r>
            <a:endParaRPr lang="en-US" sz="2550" dirty="0"/>
          </a:p>
        </p:txBody>
      </p:sp>
      <p:sp>
        <p:nvSpPr>
          <p:cNvPr id="5" name="Text 3"/>
          <p:cNvSpPr txBox="1"/>
          <p:nvPr/>
        </p:nvSpPr>
        <p:spPr>
          <a:xfrm>
            <a:off x="685800" y="1150315"/>
            <a:ext cx="5343754" cy="3724351"/>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Hook chạy tự động khi có sự kiện: sau khi lưu file (PostFileSave), trước hoặc sau khi agent dùng tool, khi kết thúc phiên.</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Matcher lọc theo đường dẫn file hoặc tên tool (regex).</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Hai loại hành động: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agent</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gửi một prompt cho agent,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command</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chạy lệnh shell.</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Lưu dạng JSON trong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.kiro/hooks/</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có thể tạo bằng cách mô tả cho Kiro.</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Mỗi hook gồm một sự kiện và một hành động, chỉ chạy trong phiên làm việc. Việc theo lịch hoặc theo sự kiện bên ngoài thì dùng Kiro Crew.</a:t>
            </a:r>
            <a:endParaRPr lang="en-US" sz="1430" dirty="0"/>
          </a:p>
        </p:txBody>
      </p:sp>
      <p:sp>
        <p:nvSpPr>
          <p:cNvPr id="6" name="Text 4"/>
          <p:cNvSpPr txBox="1"/>
          <p:nvPr/>
        </p:nvSpPr>
        <p:spPr>
          <a:xfrm>
            <a:off x="6420002" y="1283818"/>
            <a:ext cx="5032858" cy="3529584"/>
          </a:xfrm>
          <a:prstGeom prst="rect">
            <a:avLst/>
          </a:prstGeom>
          <a:noFill/>
          <a:ln/>
        </p:spPr>
        <p:txBody>
          <a:bodyPr wrap="square" lIns="0" tIns="0" rIns="0" bIns="0" rtlCol="0" anchor="t"/>
          <a:lstStyle/>
          <a:p>
            <a:pPr algn="l" indent="0" marL="0">
              <a:lnSpc>
                <a:spcPct val="122000"/>
              </a:lnSpc>
              <a:buNone/>
            </a:pPr>
            <a:r>
              <a:rPr lang="en-US" sz="1050" dirty="0">
                <a:solidFill>
                  <a:srgbClr val="6B7489"/>
                </a:solidFill>
                <a:latin typeface="Courier New" pitchFamily="34" charset="0"/>
                <a:ea typeface="Courier New" pitchFamily="34" charset="-122"/>
                <a:cs typeface="Courier New" pitchFamily="34" charset="-120"/>
              </a:rPr>
              <a:t># .kiro/hooks/update-api-docs.json</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"version": "v1",</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"hooks":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"name": "Cập nhật docs/API.md",</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"trigger": "PostFileSave",</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"matcher": ".*Resource\\.java$",</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"action":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"type": "agent",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"prompt": "Đọc các file *Resource.java,</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cập nhật bảng endpoint</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trong docs/API.md"</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a:t>
            </a:r>
            <a:endParaRPr lang="en-US" sz="1050" dirty="0"/>
          </a:p>
        </p:txBody>
      </p:sp>
      <p:sp>
        <p:nvSpPr>
          <p:cNvPr id="7" name="Text 5"/>
          <p:cNvSpPr txBox="1"/>
          <p:nvPr/>
        </p:nvSpPr>
        <p:spPr>
          <a:xfrm>
            <a:off x="6267298" y="4611319"/>
            <a:ext cx="5343754" cy="550469"/>
          </a:xfrm>
          <a:prstGeom prst="rect">
            <a:avLst/>
          </a:prstGeom>
          <a:noFill/>
          <a:ln/>
        </p:spPr>
        <p:txBody>
          <a:bodyPr wrap="square" lIns="0" tIns="0" rIns="0" bIns="0" rtlCol="0" anchor="t"/>
          <a:lstStyle/>
          <a:p>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Ví dụ Kiro nêu: cập nhật test khi lưu component, cập nhật README khi API thay đổi.</a:t>
            </a:r>
            <a:endParaRPr lang="en-US" sz="1200" dirty="0"/>
          </a:p>
        </p:txBody>
      </p:sp>
      <p:sp>
        <p:nvSpPr>
          <p:cNvPr id="8" name="Text 6"/>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kiro.dev/docs/hooks; SD Times "Amazon launches spec-driven AI IDE, Kiro"</a:t>
            </a:r>
            <a:endParaRPr lang="en-US" sz="940" dirty="0"/>
          </a:p>
        </p:txBody>
      </p:sp>
      <p:sp>
        <p:nvSpPr>
          <p:cNvPr id="9" name="Text 7"/>
          <p:cNvSpPr txBox="1"/>
          <p:nvPr/>
        </p:nvSpPr>
        <p:spPr>
          <a:xfrm>
            <a:off x="10538460" y="6515100"/>
            <a:ext cx="986638"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19 / 30</a:t>
            </a:r>
            <a:endParaRPr lang="en-US" sz="9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43346" y="1150315"/>
            <a:ext cx="5762549" cy="4888382"/>
          </a:xfrm>
          <a:prstGeom prst="roundRect">
            <a:avLst>
              <a:gd name="adj" fmla="val 1122"/>
            </a:avLst>
          </a:prstGeom>
          <a:solidFill>
            <a:srgbClr val="F3F4F7"/>
          </a:solidFill>
          <a:ln w="9525">
            <a:solidFill>
              <a:srgbClr val="D9DCE4"/>
            </a:solidFill>
            <a:prstDash val="solid"/>
          </a:ln>
        </p:spPr>
      </p:sp>
      <p:sp>
        <p:nvSpPr>
          <p:cNvPr id="3" name="Text 1"/>
          <p:cNvSpPr txBox="1"/>
          <p:nvPr/>
        </p:nvSpPr>
        <p:spPr>
          <a:xfrm>
            <a:off x="9473184" y="209398"/>
            <a:ext cx="2073859"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IDE</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Autopilot và Agent focus mode</a:t>
            </a:r>
            <a:endParaRPr lang="en-US" sz="2550" dirty="0"/>
          </a:p>
        </p:txBody>
      </p:sp>
      <p:sp>
        <p:nvSpPr>
          <p:cNvPr id="5" name="Text 3"/>
          <p:cNvSpPr txBox="1"/>
          <p:nvPr/>
        </p:nvSpPr>
        <p:spPr>
          <a:xfrm>
            <a:off x="685800" y="1150315"/>
            <a:ext cx="4808830" cy="2945282"/>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b="1" dirty="0">
                <a:solidFill>
                  <a:srgbClr val="1D2433"/>
                </a:solidFill>
                <a:latin typeface="Arial" pitchFamily="34" charset="0"/>
                <a:ea typeface="Arial" pitchFamily="34" charset="-122"/>
                <a:cs typeface="Arial" pitchFamily="34" charset="-120"/>
              </a:rPr>
              <a:t>Autopilot</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Kiro tự thực hiện các task lớn, vẫn hỏi trước khi chạy script hoặc lệnh. Tắt autopilot để duyệt từng thay đổi.</a:t>
            </a:r>
            <a:endParaRPr lang="en-US" sz="1430" dirty="0"/>
          </a:p>
          <a:p>
            <a:pPr algn="l" marL="177800" indent="-177800">
              <a:lnSpc>
                <a:spcPct val="113000"/>
              </a:lnSpc>
              <a:spcAft>
                <a:spcPts val="600"/>
              </a:spcAft>
              <a:buSzPct val="100000"/>
              <a:buChar char="•"/>
            </a:pPr>
            <a:r>
              <a:rPr lang="en-US" sz="1430" b="1" dirty="0">
                <a:solidFill>
                  <a:srgbClr val="1D2433"/>
                </a:solidFill>
                <a:latin typeface="Arial" pitchFamily="34" charset="0"/>
                <a:ea typeface="Arial" pitchFamily="34" charset="-122"/>
                <a:cs typeface="Arial" pitchFamily="34" charset="-120"/>
              </a:rPr>
              <a:t>Agent focus mode</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(đang thử nghiệm): quản lý nhiều agent trên nhiều repo từ một màn hình, chạy sandbox trên máy hoặc trên cloud.</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Tính năng khác: Powers (gói kiến thức và công cụ theo lĩnh vực), MCP, đọc ảnh thiết kế, sinh commit message, xem credit đã dùng cho từng prompt.</a:t>
            </a:r>
            <a:endParaRPr lang="en-US" sz="1430" dirty="0"/>
          </a:p>
        </p:txBody>
      </p:sp>
      <p:pic>
        <p:nvPicPr>
          <p:cNvPr id="6" name="Image 0" descr="Giao diện Agent focus mode của Kiro">    </p:cNvPr>
          <p:cNvPicPr>
            <a:picLocks noChangeAspect="1"/>
          </p:cNvPicPr>
          <p:nvPr/>
        </p:nvPicPr>
        <p:blipFill>
          <a:blip r:embed="rId1"/>
          <a:stretch>
            <a:fillRect/>
          </a:stretch>
        </p:blipFill>
        <p:spPr>
          <a:xfrm>
            <a:off x="5753405" y="1801368"/>
            <a:ext cx="5743346" cy="3586277"/>
          </a:xfrm>
          <a:prstGeom prst="rect">
            <a:avLst/>
          </a:prstGeom>
        </p:spPr>
      </p:pic>
      <p:sp>
        <p:nvSpPr>
          <p:cNvPr id="7" name="Text 4"/>
          <p:cNvSpPr txBox="1"/>
          <p:nvPr/>
        </p:nvSpPr>
        <p:spPr>
          <a:xfrm>
            <a:off x="5743346" y="6096305"/>
            <a:ext cx="5877763"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Agent focus mode. Ảnh: kiro.dev/ide, mục "Stay in the flow with agent focus mode"</a:t>
            </a:r>
            <a:endParaRPr lang="en-US" sz="980" dirty="0"/>
          </a:p>
        </p:txBody>
      </p:sp>
      <p:sp>
        <p:nvSpPr>
          <p:cNvPr id="8"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kiro.dev/ide (nội dung và ảnh); kiro.dev/docs/ide/experimental/focus-mode (mô tả tính năng)</a:t>
            </a:r>
            <a:endParaRPr lang="en-US" sz="940" dirty="0"/>
          </a:p>
        </p:txBody>
      </p:sp>
      <p:sp>
        <p:nvSpPr>
          <p:cNvPr id="9" name="Text 6"/>
          <p:cNvSpPr txBox="1"/>
          <p:nvPr/>
        </p:nvSpPr>
        <p:spPr>
          <a:xfrm>
            <a:off x="10511942" y="6515100"/>
            <a:ext cx="1014070"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20 / 30</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141318"/>
            <a:ext cx="5238598" cy="1510589"/>
          </a:xfrm>
          <a:prstGeom prst="roundRect">
            <a:avLst>
              <a:gd name="adj" fmla="val 3632"/>
            </a:avLst>
          </a:prstGeom>
          <a:solidFill>
            <a:srgbClr val="F4F1FD"/>
          </a:solidFill>
          <a:ln w="9525">
            <a:solidFill>
              <a:srgbClr val="D9D1F5"/>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476842" y="209398"/>
            <a:ext cx="207020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CLI</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Kiro CLI</a:t>
            </a:r>
            <a:endParaRPr lang="en-US" sz="2550" dirty="0"/>
          </a:p>
        </p:txBody>
      </p:sp>
      <p:sp>
        <p:nvSpPr>
          <p:cNvPr id="6" name="Text 4"/>
          <p:cNvSpPr txBox="1"/>
          <p:nvPr/>
        </p:nvSpPr>
        <p:spPr>
          <a:xfrm>
            <a:off x="685800" y="1150315"/>
            <a:ext cx="5343754" cy="3238805"/>
          </a:xfrm>
          <a:prstGeom prst="rect">
            <a:avLst/>
          </a:prstGeom>
          <a:noFill/>
          <a:ln/>
        </p:spPr>
        <p:txBody>
          <a:bodyPr wrap="square" lIns="0" tIns="0" rIns="0" bIns="0" rtlCol="0" anchor="t"/>
          <a:lstStyle/>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Cài đặt: </a:t>
            </a:r>
            <a:pPr algn="l" marL="177800" indent="-177800">
              <a:lnSpc>
                <a:spcPct val="113000"/>
              </a:lnSpc>
              <a:spcAft>
                <a:spcPts val="450"/>
              </a:spcAft>
              <a:buSzPct val="100000"/>
              <a:buChar char="•"/>
            </a:pPr>
            <a:r>
              <a:rPr lang="en-US" sz="1190" dirty="0">
                <a:solidFill>
                  <a:srgbClr val="3D4659"/>
                </a:solidFill>
                <a:latin typeface="Courier New" pitchFamily="34" charset="0"/>
                <a:ea typeface="Courier New" pitchFamily="34" charset="-122"/>
                <a:cs typeface="Courier New" pitchFamily="34" charset="-120"/>
              </a:rPr>
              <a:t>curl -fsSL https://cli.kiro.dev/install | bash</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 Chạy trên macOS, Linux, Windows.</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Dùng chung steering, hooks, specs, MCP với IDE. Spec trong terminal bằng </a:t>
            </a:r>
            <a:pPr algn="l" marL="177800" indent="-177800">
              <a:lnSpc>
                <a:spcPct val="113000"/>
              </a:lnSpc>
              <a:spcAft>
                <a:spcPts val="450"/>
              </a:spcAft>
              <a:buSzPct val="100000"/>
              <a:buChar char="•"/>
            </a:pPr>
            <a:r>
              <a:rPr lang="en-US" sz="1190" dirty="0">
                <a:solidFill>
                  <a:srgbClr val="3D4659"/>
                </a:solidFill>
                <a:latin typeface="Courier New" pitchFamily="34" charset="0"/>
                <a:ea typeface="Courier New" pitchFamily="34" charset="-122"/>
                <a:cs typeface="Courier New" pitchFamily="34" charset="-120"/>
              </a:rPr>
              <a:t>/spec new</a:t>
            </a:r>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Custom agent với quyền tool và prompt riêng cho từng loại việc.</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Planning agent: xem trước thay đổi mà không sửa code, duyệt rồi mới chạy.</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Chạy nhiều task song song trong sandbox local hoặc cloud.</a:t>
            </a:r>
            <a:endParaRPr lang="en-US" sz="1350" dirty="0"/>
          </a:p>
          <a:p>
            <a:pPr algn="l" marL="177800" indent="-177800">
              <a:lnSpc>
                <a:spcPct val="113000"/>
              </a:lnSpc>
              <a:spcAft>
                <a:spcPts val="450"/>
              </a:spcAft>
              <a:buSzPct val="100000"/>
              <a:buChar char="•"/>
            </a:pPr>
            <a:r>
              <a:rPr lang="en-US" sz="1350" dirty="0">
                <a:solidFill>
                  <a:srgbClr val="3D4659"/>
                </a:solidFill>
                <a:latin typeface="Arial" pitchFamily="34" charset="0"/>
                <a:ea typeface="Arial" pitchFamily="34" charset="-122"/>
                <a:cs typeface="Arial" pitchFamily="34" charset="-120"/>
              </a:rPr>
              <a:t>Dùng được trong IDE hỗ trợ ACP: JetBrains, Eclipse, Zed.</a:t>
            </a:r>
            <a:endParaRPr lang="en-US" sz="1350" dirty="0"/>
          </a:p>
        </p:txBody>
      </p:sp>
      <p:sp>
        <p:nvSpPr>
          <p:cNvPr id="7" name="Text 5"/>
          <p:cNvSpPr txBox="1"/>
          <p:nvPr/>
        </p:nvSpPr>
        <p:spPr>
          <a:xfrm>
            <a:off x="847649" y="4265676"/>
            <a:ext cx="5013655" cy="240487"/>
          </a:xfrm>
          <a:prstGeom prst="rect">
            <a:avLst/>
          </a:prstGeom>
          <a:noFill/>
          <a:ln/>
        </p:spPr>
        <p:txBody>
          <a:bodyPr wrap="square" lIns="0" tIns="0" rIns="0" bIns="0" rtlCol="0" anchor="t"/>
          <a:lstStyle/>
          <a:p>
            <a:pPr algn="l" indent="0" marL="0">
              <a:lnSpc>
                <a:spcPct val="104000"/>
              </a:lnSpc>
              <a:buNone/>
            </a:pPr>
            <a:r>
              <a:rPr lang="en-US" sz="1130" b="1" dirty="0">
                <a:solidFill>
                  <a:srgbClr val="5A3EC8"/>
                </a:solidFill>
                <a:latin typeface="Arial" pitchFamily="34" charset="0"/>
                <a:ea typeface="Arial" pitchFamily="34" charset="-122"/>
                <a:cs typeface="Arial" pitchFamily="34" charset="-120"/>
              </a:rPr>
              <a:t>Dùng khi nào</a:t>
            </a:r>
            <a:endParaRPr lang="en-US" sz="1130" dirty="0"/>
          </a:p>
        </p:txBody>
      </p:sp>
      <p:sp>
        <p:nvSpPr>
          <p:cNvPr id="8" name="Text 6"/>
          <p:cNvSpPr txBox="1"/>
          <p:nvPr/>
        </p:nvSpPr>
        <p:spPr>
          <a:xfrm>
            <a:off x="847649" y="4503420"/>
            <a:ext cx="5013655" cy="1196035"/>
          </a:xfrm>
          <a:prstGeom prst="rect">
            <a:avLst/>
          </a:prstGeom>
          <a:noFill/>
          <a:ln/>
        </p:spPr>
        <p:txBody>
          <a:bodyPr wrap="square" lIns="0" tIns="0" rIns="0" bIns="0" rtlCol="0" anchor="t"/>
          <a:lstStyle/>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Làm việc với agent ngay trong terminal.</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Chạy không giao diện (headless) trong CI/CD: tìm và sửa lỗi build, tự tạo pull request.</a:t>
            </a:r>
            <a:endParaRPr lang="en-US" sz="1280" dirty="0"/>
          </a:p>
          <a:p>
            <a:pPr algn="l" marL="177800" indent="-177800">
              <a:lnSpc>
                <a:spcPct val="113000"/>
              </a:lnSpc>
              <a:spcAft>
                <a:spcPts val="380"/>
              </a:spcAft>
              <a:buSzPct val="100000"/>
              <a:buChar char="•"/>
            </a:pPr>
            <a:r>
              <a:rPr lang="en-US" sz="1280" dirty="0">
                <a:solidFill>
                  <a:srgbClr val="3D4659"/>
                </a:solidFill>
                <a:latin typeface="Arial" pitchFamily="34" charset="0"/>
                <a:ea typeface="Arial" pitchFamily="34" charset="-122"/>
                <a:cs typeface="Arial" pitchFamily="34" charset="-120"/>
              </a:rPr>
              <a:t>Giao task dài cho cloud session rồi theo dõi từ nơi khác.</a:t>
            </a:r>
            <a:endParaRPr lang="en-US" sz="1280" dirty="0"/>
          </a:p>
        </p:txBody>
      </p:sp>
      <p:pic>
        <p:nvPicPr>
          <p:cNvPr id="9" name="Image 0" descr="Planning agent của Kiro CLI">    </p:cNvPr>
          <p:cNvPicPr>
            <a:picLocks noChangeAspect="1"/>
          </p:cNvPicPr>
          <p:nvPr/>
        </p:nvPicPr>
        <p:blipFill>
          <a:blip r:embed="rId1"/>
          <a:stretch>
            <a:fillRect/>
          </a:stretch>
        </p:blipFill>
        <p:spPr>
          <a:xfrm>
            <a:off x="6277356" y="1893722"/>
            <a:ext cx="5219395" cy="3402482"/>
          </a:xfrm>
          <a:prstGeom prst="rect">
            <a:avLst/>
          </a:prstGeom>
        </p:spPr>
      </p:pic>
      <p:sp>
        <p:nvSpPr>
          <p:cNvPr id="10" name="Text 7"/>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Planning agent tra cứu API trước khi đề xuất thay đổi. Ảnh: kiro.dev</a:t>
            </a:r>
            <a:endParaRPr lang="en-US" sz="980" dirty="0"/>
          </a:p>
        </p:txBody>
      </p:sp>
      <p:sp>
        <p:nvSpPr>
          <p:cNvPr id="11" name="Text 8"/>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kiro.dev/cli; kiro.dev/docs/cli/v3</a:t>
            </a:r>
            <a:endParaRPr lang="en-US" sz="940" dirty="0"/>
          </a:p>
        </p:txBody>
      </p:sp>
      <p:sp>
        <p:nvSpPr>
          <p:cNvPr id="12" name="Text 9"/>
          <p:cNvSpPr txBox="1"/>
          <p:nvPr/>
        </p:nvSpPr>
        <p:spPr>
          <a:xfrm>
            <a:off x="10540289" y="6515100"/>
            <a:ext cx="985723"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21 / 30</a:t>
            </a:r>
            <a:endParaRPr lang="en-US" sz="9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3" name="Text 1"/>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Kiro Crew là gì</a:t>
            </a:r>
            <a:endParaRPr lang="en-US" sz="2550" dirty="0"/>
          </a:p>
        </p:txBody>
      </p:sp>
      <p:sp>
        <p:nvSpPr>
          <p:cNvPr id="5" name="Text 3"/>
          <p:cNvSpPr txBox="1"/>
          <p:nvPr/>
        </p:nvSpPr>
        <p:spPr>
          <a:xfrm>
            <a:off x="685800" y="1150315"/>
            <a:ext cx="5343754" cy="3638398"/>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Ra mắt 4/8/2026, mã nguồn mở theo giấy phép Apache 2.0. Bắt đầu từ dự án nội bộ MeshClaw, đã có hơn 39.000 người trong Amazon sử dụng.</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Chạy nền như một dịch vụ: tự nhận việc theo lịch hoặc sự kiện khi người dùng không ngồi trước máy, có bộ nhớ qua nhiều phiên và điều phối nhiều agent.</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Chạy trên máy hoặc server do người dùng quản lý, không cần tài khoản AWS. Chạy trên Kiro CLI, dùng lại cấu hình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Truy cập qua ứng dụng Mac, web dashboard, CLI, Slack, Telegram, Discord, Teams.</a:t>
            </a:r>
            <a:endParaRPr lang="en-US" sz="1430" dirty="0"/>
          </a:p>
        </p:txBody>
      </p:sp>
      <p:pic>
        <p:nvPicPr>
          <p:cNvPr id="6" name="Image 0" descr="Màn hình phiên làm việc của Kiro Crew với một pull request đã merge">    </p:cNvPr>
          <p:cNvPicPr>
            <a:picLocks noChangeAspect="1"/>
          </p:cNvPicPr>
          <p:nvPr/>
        </p:nvPicPr>
        <p:blipFill>
          <a:blip r:embed="rId1"/>
          <a:stretch>
            <a:fillRect/>
          </a:stretch>
        </p:blipFill>
        <p:spPr>
          <a:xfrm>
            <a:off x="6277356" y="2126894"/>
            <a:ext cx="5219395" cy="2936138"/>
          </a:xfrm>
          <a:prstGeom prst="rect">
            <a:avLst/>
          </a:prstGeom>
        </p:spPr>
      </p:pic>
      <p:sp>
        <p:nvSpPr>
          <p:cNvPr id="7" name="Text 4"/>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Danh sách phiên, hội thoại với agent và pull request đã merge. Ảnh: kiro.dev</a:t>
            </a:r>
            <a:endParaRPr lang="en-US" sz="980" dirty="0"/>
          </a:p>
        </p:txBody>
      </p:sp>
      <p:sp>
        <p:nvSpPr>
          <p:cNvPr id="8"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kiro.dev/blog/introducing-kiro-crew (04/08/2026); kiro.dev/crew</a:t>
            </a:r>
            <a:endParaRPr lang="en-US" sz="940" dirty="0"/>
          </a:p>
        </p:txBody>
      </p:sp>
      <p:sp>
        <p:nvSpPr>
          <p:cNvPr id="9" name="Text 6"/>
          <p:cNvSpPr txBox="1"/>
          <p:nvPr/>
        </p:nvSpPr>
        <p:spPr>
          <a:xfrm>
            <a:off x="10514686" y="6515100"/>
            <a:ext cx="1011326"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22 / 30</a:t>
            </a:r>
            <a:endParaRPr lang="en-US" sz="9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3" name="Text 1"/>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Kiro CLI và Kiro Crew</a:t>
            </a:r>
            <a:endParaRPr lang="en-US" sz="25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150315"/>
          <a:ext cx="10820095" cy="914400"/>
        </p:xfrm>
        <a:graphic>
          <a:graphicData uri="http://schemas.openxmlformats.org/drawingml/2006/table">
            <a:tbl>
              <a:tblPr/>
              <a:tblGrid>
                <a:gridCol w="1809598"/>
                <a:gridCol w="4203497"/>
                <a:gridCol w="4807001"/>
              </a:tblGrid>
              <a:tr h="403250">
                <a:tc>
                  <a:txBody>
                    <a:bodyPr/>
                    <a:lstStyle/>
                    <a:p>
                      <a:pPr algn="l"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 CLI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 Crew</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Cách làm việc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Làm việc trực tiếp với agent trong terminal, từng phiên một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Chạy nền liên tục, quản lý nhiều phiên và nhiều agent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Bắt đầu việc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Khi người dùng ra lệnh, hoặc khi script/CI gọi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Khi người dùng ra lệnh, hoặc tự động theo lịch, webhook, heartbeat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Bộ nhớ</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Theo phiên, cộng steering của dự án</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Memory, lesson, skill giữ qua nhiều phiên</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634594">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Giao tiếp</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Terminal, IDE hỗ trợ ACP</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Dashboard, ứng dụng Mac, Slack, Telegram, Discord, Teams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sp>
        <p:nvSpPr>
          <p:cNvPr id="5" name="Text 2"/>
          <p:cNvSpPr txBox="1"/>
          <p:nvPr/>
        </p:nvSpPr>
        <p:spPr>
          <a:xfrm>
            <a:off x="685800" y="4002329"/>
            <a:ext cx="11036808" cy="306324"/>
          </a:xfrm>
          <a:prstGeom prst="rect">
            <a:avLst/>
          </a:prstGeom>
          <a:noFill/>
          <a:ln/>
        </p:spPr>
        <p:txBody>
          <a:bodyPr wrap="square" lIns="0" tIns="0" rIns="0" bIns="0" rtlCol="0" anchor="t"/>
          <a:lstStyle/>
          <a:p>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Crew chạy trên Kiro CLI và dùng lại cấu hình </a:t>
            </a:r>
            <a:pPr algn="l" indent="0" marL="0">
              <a:lnSpc>
                <a:spcPct val="130000"/>
              </a:lnSpc>
              <a:buNone/>
            </a:pPr>
            <a:r>
              <a:rPr lang="en-US" sz="1060" dirty="0">
                <a:solidFill>
                  <a:srgbClr val="6B7489"/>
                </a:solidFill>
                <a:latin typeface="Courier New" pitchFamily="34" charset="0"/>
                <a:ea typeface="Courier New" pitchFamily="34" charset="-122"/>
                <a:cs typeface="Courier New" pitchFamily="34" charset="-120"/>
              </a:rPr>
              <a:t>.kiro</a:t>
            </a:r>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 nên steering, skill, custom agent viết cho CLI dùng được luôn trong Crew.</a:t>
            </a:r>
            <a:endParaRPr lang="en-US" sz="1200" dirty="0"/>
          </a:p>
        </p:txBody>
      </p:sp>
      <p:sp>
        <p:nvSpPr>
          <p:cNvPr id="6" name="Text 3"/>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kiro.dev/cli; kiro.dev/crew; kiro.dev/blog/introducing-kiro-crew</a:t>
            </a:r>
            <a:endParaRPr lang="en-US" sz="940" dirty="0"/>
          </a:p>
        </p:txBody>
      </p:sp>
      <p:sp>
        <p:nvSpPr>
          <p:cNvPr id="7" name="Text 4"/>
          <p:cNvSpPr txBox="1"/>
          <p:nvPr/>
        </p:nvSpPr>
        <p:spPr>
          <a:xfrm>
            <a:off x="10513771" y="6515100"/>
            <a:ext cx="101224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23 / 30</a:t>
            </a:r>
            <a:endParaRPr lang="en-US" sz="9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3" name="Text 1"/>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Bộ nhớ và học từ cách làm việc</a:t>
            </a:r>
            <a:endParaRPr lang="en-US" sz="2550" dirty="0"/>
          </a:p>
        </p:txBody>
      </p:sp>
      <p:sp>
        <p:nvSpPr>
          <p:cNvPr id="5" name="Text 3"/>
          <p:cNvSpPr txBox="1"/>
          <p:nvPr/>
        </p:nvSpPr>
        <p:spPr>
          <a:xfrm>
            <a:off x="685800" y="1150315"/>
            <a:ext cx="5343754" cy="3116275"/>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Memory, lesson và skill được giữ qua các phiên và khi khởi động lại.</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Khi người dùng sửa sai, Crew ghi lại thành lesson để áp dụng về sau.</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Các việc lặp lại được tổng hợp thành skill có tên.</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Quyết định kiến trúc, quy ước code và ngữ cảnh dự án được lưu trong knowledge graph, có tìm kiếm.</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Người dùng xem, sửa và xoá được những gì Crew đã ghi nhớ. Lệnh: </a:t>
            </a:r>
            <a:pPr algn="l" marL="177800" indent="-177800">
              <a:lnSpc>
                <a:spcPct val="113000"/>
              </a:lnSpc>
              <a:spcAft>
                <a:spcPts val="600"/>
              </a:spcAft>
              <a:buSzPct val="100000"/>
              <a:buChar char="•"/>
            </a:pPr>
            <a:r>
              <a:rPr lang="en-US" sz="1250" dirty="0">
                <a:solidFill>
                  <a:srgbClr val="3D4659"/>
                </a:solidFill>
                <a:latin typeface="Courier New" pitchFamily="34" charset="0"/>
                <a:ea typeface="Courier New" pitchFamily="34" charset="-122"/>
                <a:cs typeface="Courier New" pitchFamily="34" charset="-120"/>
              </a:rPr>
              <a:t>kirocrew learn add | list | remove</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t>
            </a:r>
            <a:endParaRPr lang="en-US" sz="1430" dirty="0"/>
          </a:p>
        </p:txBody>
      </p:sp>
      <p:pic>
        <p:nvPicPr>
          <p:cNvPr id="6" name="Image 0" descr="Lịch sử thay đổi bộ nhớ trong Kiro Crew">    </p:cNvPr>
          <p:cNvPicPr>
            <a:picLocks noChangeAspect="1"/>
          </p:cNvPicPr>
          <p:nvPr/>
        </p:nvPicPr>
        <p:blipFill>
          <a:blip r:embed="rId1"/>
          <a:stretch>
            <a:fillRect/>
          </a:stretch>
        </p:blipFill>
        <p:spPr>
          <a:xfrm>
            <a:off x="6277356" y="2126894"/>
            <a:ext cx="5219395" cy="2936138"/>
          </a:xfrm>
          <a:prstGeom prst="rect">
            <a:avLst/>
          </a:prstGeom>
        </p:spPr>
      </p:pic>
      <p:sp>
        <p:nvSpPr>
          <p:cNvPr id="7" name="Text 4"/>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Lịch sử thay đổi bộ nhớ. Ảnh: kiro.dev</a:t>
            </a:r>
            <a:endParaRPr lang="en-US" sz="980" dirty="0"/>
          </a:p>
        </p:txBody>
      </p:sp>
      <p:sp>
        <p:nvSpPr>
          <p:cNvPr id="8"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kiro.dev/crew; kiro.dev/docs/crew/interfaces/cli-reference</a:t>
            </a:r>
            <a:endParaRPr lang="en-US" sz="940" dirty="0"/>
          </a:p>
        </p:txBody>
      </p:sp>
      <p:sp>
        <p:nvSpPr>
          <p:cNvPr id="9" name="Text 6"/>
          <p:cNvSpPr txBox="1"/>
          <p:nvPr/>
        </p:nvSpPr>
        <p:spPr>
          <a:xfrm>
            <a:off x="10511942" y="6515100"/>
            <a:ext cx="1014070"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24 / 30</a:t>
            </a:r>
            <a:endParaRPr lang="en-US" sz="9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703320"/>
            <a:ext cx="5238598" cy="905256"/>
          </a:xfrm>
          <a:prstGeom prst="roundRect">
            <a:avLst>
              <a:gd name="adj" fmla="val 6061"/>
            </a:avLst>
          </a:prstGeom>
          <a:solidFill>
            <a:srgbClr val="F6F7F9"/>
          </a:solidFill>
          <a:ln w="9525">
            <a:solidFill>
              <a:srgbClr val="D9DCE4"/>
            </a:solidFill>
            <a:prstDash val="solid"/>
          </a:ln>
        </p:spPr>
      </p:sp>
      <p:sp>
        <p:nvSpPr>
          <p:cNvPr id="3" name="Shape 1"/>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4" name="Text 2"/>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5" name="Text 3"/>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Lịch chạy, webhook và heartbeat</a:t>
            </a:r>
            <a:endParaRPr lang="en-US" sz="2550" dirty="0"/>
          </a:p>
        </p:txBody>
      </p:sp>
      <p:sp>
        <p:nvSpPr>
          <p:cNvPr id="6" name="Text 4"/>
          <p:cNvSpPr txBox="1"/>
          <p:nvPr/>
        </p:nvSpPr>
        <p:spPr>
          <a:xfrm>
            <a:off x="685800" y="1150315"/>
            <a:ext cx="5343754" cy="2811780"/>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b="1" dirty="0">
                <a:solidFill>
                  <a:srgbClr val="1D2433"/>
                </a:solidFill>
                <a:latin typeface="Arial" pitchFamily="34" charset="0"/>
                <a:ea typeface="Arial" pitchFamily="34" charset="-122"/>
                <a:cs typeface="Arial" pitchFamily="34" charset="-120"/>
              </a:rPr>
              <a:t>Cron</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việc định kỳ theo múi giờ, ví dụ báo cáo đầu ngày.</a:t>
            </a:r>
            <a:endParaRPr lang="en-US" sz="1430" dirty="0"/>
          </a:p>
          <a:p>
            <a:pPr algn="l" marL="177800" indent="-177800">
              <a:lnSpc>
                <a:spcPct val="113000"/>
              </a:lnSpc>
              <a:spcAft>
                <a:spcPts val="600"/>
              </a:spcAft>
              <a:buSzPct val="100000"/>
              <a:buChar char="•"/>
            </a:pPr>
            <a:r>
              <a:rPr lang="en-US" sz="1430" b="1" dirty="0">
                <a:solidFill>
                  <a:srgbClr val="1D2433"/>
                </a:solidFill>
                <a:latin typeface="Arial" pitchFamily="34" charset="0"/>
                <a:ea typeface="Arial" pitchFamily="34" charset="-122"/>
                <a:cs typeface="Arial" pitchFamily="34" charset="-120"/>
              </a:rPr>
              <a:t>Heartbeat</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theo dõi trạng thái pull request, deployment, pipeline và báo khi có thay đổi.</a:t>
            </a:r>
            <a:endParaRPr lang="en-US" sz="1430" dirty="0"/>
          </a:p>
          <a:p>
            <a:pPr algn="l" marL="177800" indent="-177800">
              <a:lnSpc>
                <a:spcPct val="113000"/>
              </a:lnSpc>
              <a:spcAft>
                <a:spcPts val="600"/>
              </a:spcAft>
              <a:buSzPct val="100000"/>
              <a:buChar char="•"/>
            </a:pPr>
            <a:r>
              <a:rPr lang="en-US" sz="1430" b="1" dirty="0">
                <a:solidFill>
                  <a:srgbClr val="1D2433"/>
                </a:solidFill>
                <a:latin typeface="Arial" pitchFamily="34" charset="0"/>
                <a:ea typeface="Arial" pitchFamily="34" charset="-122"/>
                <a:cs typeface="Arial" pitchFamily="34" charset="-120"/>
              </a:rPr>
              <a:t>Webhook</a:t>
            </a:r>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 sự kiện bên ngoài gọi vào endpoint có xác thực để bắt đầu việc.</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Việc không cần suy luận chạy như script, không gọi model.</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Task dài chạy qua các checkpoint, có kiểm tra và thử lại.</a:t>
            </a:r>
            <a:endParaRPr lang="en-US" sz="1430" dirty="0"/>
          </a:p>
        </p:txBody>
      </p:sp>
      <p:sp>
        <p:nvSpPr>
          <p:cNvPr id="7" name="Text 5"/>
          <p:cNvSpPr txBox="1"/>
          <p:nvPr/>
        </p:nvSpPr>
        <p:spPr>
          <a:xfrm>
            <a:off x="838505" y="3836822"/>
            <a:ext cx="5032858" cy="753466"/>
          </a:xfrm>
          <a:prstGeom prst="rect">
            <a:avLst/>
          </a:prstGeom>
          <a:noFill/>
          <a:ln/>
        </p:spPr>
        <p:txBody>
          <a:bodyPr wrap="square" lIns="0" tIns="0" rIns="0" bIns="0" rtlCol="0" anchor="t"/>
          <a:lstStyle/>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kirocrew cron add "bao-cao-sang" "..."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--cron "0 7 * * 1-5" \</a:t>
            </a:r>
            <a:endParaRPr lang="en-US" sz="1050" dirty="0"/>
          </a:p>
          <a:p>
            <a:pPr algn="l" indent="0" marL="0">
              <a:lnSpc>
                <a:spcPct val="122000"/>
              </a:lnSpc>
              <a:buNone/>
            </a:pPr>
            <a:r>
              <a:rPr lang="en-US" sz="1050" dirty="0">
                <a:solidFill>
                  <a:srgbClr val="2B3242"/>
                </a:solidFill>
                <a:latin typeface="Courier New" pitchFamily="34" charset="0"/>
                <a:ea typeface="Courier New" pitchFamily="34" charset="-122"/>
                <a:cs typeface="Courier New" pitchFamily="34" charset="-120"/>
              </a:rPr>
              <a:t>  --timezone "Asia/Ho_Chi_Minh"</a:t>
            </a:r>
            <a:endParaRPr lang="en-US" sz="1050" dirty="0"/>
          </a:p>
        </p:txBody>
      </p:sp>
      <p:pic>
        <p:nvPicPr>
          <p:cNvPr id="8" name="Image 0" descr="Trang Schedule của Kiro Crew với hai cron job">    </p:cNvPr>
          <p:cNvPicPr>
            <a:picLocks noChangeAspect="1"/>
          </p:cNvPicPr>
          <p:nvPr/>
        </p:nvPicPr>
        <p:blipFill>
          <a:blip r:embed="rId1"/>
          <a:stretch>
            <a:fillRect/>
          </a:stretch>
        </p:blipFill>
        <p:spPr>
          <a:xfrm>
            <a:off x="6277356" y="2126894"/>
            <a:ext cx="5219395" cy="2936138"/>
          </a:xfrm>
          <a:prstGeom prst="rect">
            <a:avLst/>
          </a:prstGeom>
        </p:spPr>
      </p:pic>
      <p:sp>
        <p:nvSpPr>
          <p:cNvPr id="9" name="Text 6"/>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Trang Schedule. Ảnh: kiro.dev</a:t>
            </a:r>
            <a:endParaRPr lang="en-US" sz="980" dirty="0"/>
          </a:p>
        </p:txBody>
      </p:sp>
      <p:sp>
        <p:nvSpPr>
          <p:cNvPr id="10" name="Text 7"/>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kiro.dev/crew; kiro.dev/docs/crew/features/cron</a:t>
            </a:r>
            <a:endParaRPr lang="en-US" sz="940" dirty="0"/>
          </a:p>
        </p:txBody>
      </p:sp>
      <p:sp>
        <p:nvSpPr>
          <p:cNvPr id="11" name="Text 8"/>
          <p:cNvSpPr txBox="1"/>
          <p:nvPr/>
        </p:nvSpPr>
        <p:spPr>
          <a:xfrm>
            <a:off x="10514686" y="6515100"/>
            <a:ext cx="1011326"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25 / 30</a:t>
            </a:r>
            <a:endParaRPr lang="en-US" sz="9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4888382"/>
          </a:xfrm>
          <a:prstGeom prst="roundRect">
            <a:avLst>
              <a:gd name="adj" fmla="val 1122"/>
            </a:avLst>
          </a:prstGeom>
          <a:solidFill>
            <a:srgbClr val="F3F4F7"/>
          </a:solidFill>
          <a:ln w="9525">
            <a:solidFill>
              <a:srgbClr val="D9DCE4"/>
            </a:solidFill>
            <a:prstDash val="solid"/>
          </a:ln>
        </p:spPr>
      </p:sp>
      <p:sp>
        <p:nvSpPr>
          <p:cNvPr id="3" name="Text 1"/>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Nhiều agent và Apps</a:t>
            </a:r>
            <a:endParaRPr lang="en-US" sz="2550" dirty="0"/>
          </a:p>
        </p:txBody>
      </p:sp>
      <p:sp>
        <p:nvSpPr>
          <p:cNvPr id="5" name="Text 3"/>
          <p:cNvSpPr txBox="1"/>
          <p:nvPr/>
        </p:nvSpPr>
        <p:spPr>
          <a:xfrm>
            <a:off x="685800" y="1150315"/>
            <a:ext cx="5343754" cy="3334817"/>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Chạy nhiều hội thoại song song, mỗi hội thoại có ngữ cảnh riêng.</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Giao việc cho subagent (nghiên cứu, viết code) rồi gom kết quả về hội thoại chính.</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Màn hình Activity hiển thị suy luận, từng lần gọi tool và kết quả của mỗi agent.</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Apps là giao diện riêng cho những việc không hợp với chat. Có sẵn: DevFleets (quản lý worktree), Task Runner (task dài), Issue Radar (phân loại issue và PR), LaunchDarkly (feature flag). Có App SDK để tự viết.</a:t>
            </a:r>
            <a:endParaRPr lang="en-US" sz="1430" dirty="0"/>
          </a:p>
        </p:txBody>
      </p:sp>
      <p:pic>
        <p:nvPicPr>
          <p:cNvPr id="6" name="Image 0" descr="Ứng dụng Issue Radar trong Kiro Crew">    </p:cNvPr>
          <p:cNvPicPr>
            <a:picLocks noChangeAspect="1"/>
          </p:cNvPicPr>
          <p:nvPr/>
        </p:nvPicPr>
        <p:blipFill>
          <a:blip r:embed="rId1"/>
          <a:stretch>
            <a:fillRect/>
          </a:stretch>
        </p:blipFill>
        <p:spPr>
          <a:xfrm>
            <a:off x="6277356" y="2126894"/>
            <a:ext cx="5219395" cy="2936138"/>
          </a:xfrm>
          <a:prstGeom prst="rect">
            <a:avLst/>
          </a:prstGeom>
        </p:spPr>
      </p:pic>
      <p:sp>
        <p:nvSpPr>
          <p:cNvPr id="7" name="Text 4"/>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Issue Radar. Ảnh: kiro.dev</a:t>
            </a:r>
            <a:endParaRPr lang="en-US" sz="980" dirty="0"/>
          </a:p>
        </p:txBody>
      </p:sp>
      <p:sp>
        <p:nvSpPr>
          <p:cNvPr id="8"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kiro.dev/blog/introducing-kiro-crew; kiro.dev/crew</a:t>
            </a:r>
            <a:endParaRPr lang="en-US" sz="940" dirty="0"/>
          </a:p>
        </p:txBody>
      </p:sp>
      <p:sp>
        <p:nvSpPr>
          <p:cNvPr id="9" name="Text 6"/>
          <p:cNvSpPr txBox="1"/>
          <p:nvPr/>
        </p:nvSpPr>
        <p:spPr>
          <a:xfrm>
            <a:off x="10513771" y="6515100"/>
            <a:ext cx="101224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26 / 30</a:t>
            </a:r>
            <a:endParaRPr lang="en-US" sz="9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67298" y="1150315"/>
            <a:ext cx="5238598" cy="4888382"/>
          </a:xfrm>
          <a:prstGeom prst="roundRect">
            <a:avLst>
              <a:gd name="adj" fmla="val 1122"/>
            </a:avLst>
          </a:prstGeom>
          <a:solidFill>
            <a:srgbClr val="FFFFFF"/>
          </a:solidFill>
          <a:ln w="9525">
            <a:solidFill>
              <a:srgbClr val="D9DCE4"/>
            </a:solidFill>
            <a:prstDash val="solid"/>
          </a:ln>
        </p:spPr>
      </p:sp>
      <p:sp>
        <p:nvSpPr>
          <p:cNvPr id="3" name="Text 1"/>
          <p:cNvSpPr txBox="1"/>
          <p:nvPr/>
        </p:nvSpPr>
        <p:spPr>
          <a:xfrm>
            <a:off x="9350654" y="209398"/>
            <a:ext cx="2199132"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 Crew</a:t>
            </a:r>
            <a:endParaRPr lang="en-US" sz="1050" dirty="0"/>
          </a:p>
        </p:txBody>
      </p:sp>
      <p:sp>
        <p:nvSpPr>
          <p:cNvPr id="4" name="Text 2"/>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Bảo mật</a:t>
            </a:r>
            <a:endParaRPr lang="en-US" sz="2550" dirty="0"/>
          </a:p>
        </p:txBody>
      </p:sp>
      <p:sp>
        <p:nvSpPr>
          <p:cNvPr id="5" name="Text 3"/>
          <p:cNvSpPr txBox="1"/>
          <p:nvPr/>
        </p:nvSpPr>
        <p:spPr>
          <a:xfrm>
            <a:off x="685800" y="1150315"/>
            <a:ext cx="5343754" cy="3030322"/>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8 lớp bảo vệ, gồm: sandbox mức hệ điều hành, lệnh bị chặn mặc định, chặn mẫu lệnh đáng ngờ, kiểm tra đầu vào, chặn đường dẫn nhạy cảm, ẩn credential trong output.</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Mọi hành động được ghi vào audit log có chữ ký.</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Có thể yêu cầu duyệt trước khi agent dùng tool. Dashboard mặc định chỉ mở trên máy local.</a:t>
            </a:r>
            <a:endParaRPr lang="en-US" sz="1430" dirty="0"/>
          </a:p>
          <a:p>
            <a:pPr algn="l" marL="177800" indent="-177800">
              <a:lnSpc>
                <a:spcPct val="113000"/>
              </a:lnSpc>
              <a:spcAft>
                <a:spcPts val="600"/>
              </a:spcAft>
              <a:buSzPct val="100000"/>
              <a:buChar char="•"/>
            </a:pPr>
            <a:r>
              <a:rPr lang="en-US" sz="1430" dirty="0">
                <a:solidFill>
                  <a:srgbClr val="3D4659"/>
                </a:solidFill>
                <a:latin typeface="Arial" pitchFamily="34" charset="0"/>
                <a:ea typeface="Arial" pitchFamily="34" charset="-122"/>
                <a:cs typeface="Arial" pitchFamily="34" charset="-120"/>
              </a:rPr>
              <a:t>Phần điều phối là mã nguồn mở. Crew chạy trên Kiro CLI và cần tài khoản Kiro.</a:t>
            </a:r>
            <a:endParaRPr lang="en-US" sz="1430" dirty="0"/>
          </a:p>
        </p:txBody>
      </p:sp>
      <p:pic>
        <p:nvPicPr>
          <p:cNvPr id="6" name="Image 0" descr="Sơ đồ 8 lớp bảo vệ của Kiro Crew">    </p:cNvPr>
          <p:cNvPicPr>
            <a:picLocks noChangeAspect="1"/>
          </p:cNvPicPr>
          <p:nvPr/>
        </p:nvPicPr>
        <p:blipFill>
          <a:blip r:embed="rId1"/>
          <a:stretch>
            <a:fillRect/>
          </a:stretch>
        </p:blipFill>
        <p:spPr>
          <a:xfrm>
            <a:off x="6433718" y="1160374"/>
            <a:ext cx="4906670" cy="4869180"/>
          </a:xfrm>
          <a:prstGeom prst="rect">
            <a:avLst/>
          </a:prstGeom>
        </p:spPr>
      </p:pic>
      <p:sp>
        <p:nvSpPr>
          <p:cNvPr id="7" name="Text 4"/>
          <p:cNvSpPr txBox="1"/>
          <p:nvPr/>
        </p:nvSpPr>
        <p:spPr>
          <a:xfrm>
            <a:off x="6267298" y="6096305"/>
            <a:ext cx="5343754" cy="208483"/>
          </a:xfrm>
          <a:prstGeom prst="rect">
            <a:avLst/>
          </a:prstGeom>
          <a:noFill/>
          <a:ln/>
        </p:spPr>
        <p:txBody>
          <a:bodyPr wrap="square" lIns="0" tIns="0" rIns="0" bIns="0" rtlCol="0" anchor="t"/>
          <a:lstStyle/>
          <a:p>
            <a:pPr algn="l" indent="0" marL="0">
              <a:lnSpc>
                <a:spcPct val="104000"/>
              </a:lnSpc>
              <a:buNone/>
            </a:pPr>
            <a:r>
              <a:rPr lang="en-US" sz="980" dirty="0">
                <a:solidFill>
                  <a:srgbClr val="6B7489"/>
                </a:solidFill>
                <a:latin typeface="Arial" pitchFamily="34" charset="0"/>
                <a:ea typeface="Arial" pitchFamily="34" charset="-122"/>
                <a:cs typeface="Arial" pitchFamily="34" charset="-120"/>
              </a:rPr>
              <a:t>Một hành động của agent đi qua 8 lớp kiểm tra. Ảnh: kiro.dev</a:t>
            </a:r>
            <a:endParaRPr lang="en-US" sz="980" dirty="0"/>
          </a:p>
        </p:txBody>
      </p:sp>
      <p:sp>
        <p:nvSpPr>
          <p:cNvPr id="8"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kiro.dev/blog/introducing-kiro-crew; kiro.dev/crew</a:t>
            </a:r>
            <a:endParaRPr lang="en-US" sz="940" dirty="0"/>
          </a:p>
        </p:txBody>
      </p:sp>
      <p:sp>
        <p:nvSpPr>
          <p:cNvPr id="9" name="Text 6"/>
          <p:cNvSpPr txBox="1"/>
          <p:nvPr/>
        </p:nvSpPr>
        <p:spPr>
          <a:xfrm>
            <a:off x="10520172" y="6515100"/>
            <a:ext cx="1005840"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27 / 30</a:t>
            </a:r>
            <a:endParaRPr lang="en-US" sz="9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720986" y="209398"/>
            <a:ext cx="1820570" cy="219456"/>
          </a:xfrm>
          <a:prstGeom prst="rect">
            <a:avLst/>
          </a:prstGeom>
          <a:noFill/>
          <a:ln/>
        </p:spPr>
        <p:txBody>
          <a:bodyPr wrap="square" lIns="0" tIns="0" rIns="0" bIns="0" rtlCol="0" anchor="t"/>
          <a:lstStyle/>
          <a:p>
            <a:pPr algn="r" indent="0" marL="0">
              <a:lnSpc>
                <a:spcPct val="104000"/>
              </a:lnSpc>
              <a:buNone/>
            </a:pPr>
            <a:r>
              <a:rPr lang="en-US" sz="1050" b="1" dirty="0">
                <a:solidFill>
                  <a:srgbClr val="5A3EC8"/>
                </a:solidFill>
                <a:latin typeface="Arial" pitchFamily="34" charset="0"/>
                <a:ea typeface="Arial" pitchFamily="34" charset="-122"/>
                <a:cs typeface="Arial" pitchFamily="34" charset="-120"/>
              </a:rPr>
              <a:t>Kiro</a:t>
            </a:r>
            <a:endParaRPr lang="en-US" sz="1050" dirty="0"/>
          </a:p>
        </p:txBody>
      </p:sp>
      <p:sp>
        <p:nvSpPr>
          <p:cNvPr id="3" name="Text 1"/>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Kiro IDE, Kiro CLI, Kiro Crew: dùng khi nào</a:t>
            </a:r>
            <a:endParaRPr lang="en-US" sz="25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85800" y="1150315"/>
          <a:ext cx="10821010" cy="914400"/>
        </p:xfrm>
        <a:graphic>
          <a:graphicData uri="http://schemas.openxmlformats.org/drawingml/2006/table">
            <a:tbl>
              <a:tblPr/>
              <a:tblGrid>
                <a:gridCol w="1429207"/>
                <a:gridCol w="2857500"/>
                <a:gridCol w="2857500"/>
                <a:gridCol w="3676802"/>
              </a:tblGrid>
              <a:tr h="403250">
                <a:tc>
                  <a:txBody>
                    <a:bodyPr/>
                    <a:lstStyle/>
                    <a:p>
                      <a:pPr algn="l" indent="0" marL="0">
                        <a:buNone/>
                      </a:pPr>
                      <a:r>
                        <a:rPr lang="en-US" sz="1050" dirty="0">
                          <a:solidFill>
                            <a:srgbClr val="3D4659"/>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 IDE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 CLI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Kiro Crew</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solidFill>
                      <a:srgbClr val="F3F4F7"/>
                    </a:solidFill>
                  </a:tcPr>
                </a:tc>
              </a:tr>
              <a:tr h="407822">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Hình thức</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Trình soạn code, nền VS Code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Agent trong terminal</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Workspace chạy nền, có dashboard</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861365">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Điểm mạnh</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Spec có duyệt từng bước, property-based test, hook, Agent focus mode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Custom agent, planning agent, chạy headless trong CI/CD, dùng với JetBrains, Zed qua ACP</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Lịch, webhook, heartbeat; bộ nhớ qua nhiều phiên; nhiều agent song song; Apps</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861365">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Phù hợp khi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Làm tính năng mới, refactor cần lập kế hoạch, tìm hiểu hệ thống có sẵn</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Quen làm việc trong terminal, tự động hoá trong pipeline</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Việc kéo dài nhiều giờ, nhiều ngày, việc định kỳ</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r h="861365">
                <a:tc>
                  <a:txBody>
                    <a:bodyPr/>
                    <a:lstStyle/>
                    <a:p>
                      <a:pPr algn="l" indent="0" marL="0">
                        <a:buNone/>
                      </a:pPr>
                      <a:r>
                        <a:rPr lang="en-US" sz="1280" b="1" dirty="0">
                          <a:solidFill>
                            <a:srgbClr val="1D2433"/>
                          </a:solidFill>
                          <a:latin typeface="Arial" pitchFamily="34" charset="0"/>
                          <a:ea typeface="Arial" pitchFamily="34" charset="-122"/>
                          <a:cs typeface="Arial" pitchFamily="34" charset="-120"/>
                        </a:rPr>
                        <a:t>Ví dụ nhà cung cấp nêu</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Tính năng cần suy nghĩ kỹ; cập nhật test khi lưu file, cập nhật README khi API đổi</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Tìm và sửa lỗi CI rồi tạo pull request</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c>
                  <a:txBody>
                    <a:bodyPr/>
                    <a:lstStyle/>
                    <a:p>
                      <a:pPr algn="l" indent="0" marL="0">
                        <a:buNone/>
                      </a:pPr>
                      <a:r>
                        <a:rPr lang="en-US" sz="1280" dirty="0">
                          <a:solidFill>
                            <a:srgbClr val="3D4659"/>
                          </a:solidFill>
                          <a:latin typeface="Arial" pitchFamily="34" charset="0"/>
                          <a:ea typeface="Arial" pitchFamily="34" charset="-122"/>
                          <a:cs typeface="Arial" pitchFamily="34" charset="-120"/>
                        </a:rPr>
                        <a:t>Phân loại ticket; điều tra sự cố trên nhiều repo; migration có checkpoint; kiểm tra PR trước giờ làm</a:t>
                      </a:r>
                      <a:endParaRPr lang="en-US" sz="1200" dirty="0">
                        <a:latin typeface="Arial" charset="0"/>
                        <a:ea typeface="Arial" charset="0"/>
                        <a:cs typeface="Arial" charset="0"/>
                      </a:endParaRPr>
                    </a:p>
                  </a:txBody>
                  <a:tcPr marL="109728" marR="109728" marT="64008" marB="64008" anchor="t">
                    <a:lnL w="0" cap="flat" cmpd="sng" algn="ctr">
                      <a:noFill/>
                    </a:lnL>
                    <a:lnR w="0" cap="flat" cmpd="sng" algn="ctr">
                      <a:noFill/>
                    </a:lnR>
                    <a:lnT w="0" cap="flat" cmpd="sng" algn="ctr">
                      <a:noFill/>
                    </a:lnT>
                    <a:lnB w="9525" cap="flat" cmpd="sng" algn="ctr">
                      <a:solidFill>
                        <a:srgbClr val="D9DCE4"/>
                      </a:solidFill>
                      <a:prstDash val="solid"/>
                      <a:round/>
                      <a:headEnd type="none" w="med" len="med"/>
                      <a:tailEnd type="none" w="med" len="med"/>
                    </a:lnB>
                  </a:tcPr>
                </a:tc>
              </a:tr>
            </a:tbl>
          </a:graphicData>
        </a:graphic>
      </p:graphicFrame>
      <p:sp>
        <p:nvSpPr>
          <p:cNvPr id="5" name="Text 2"/>
          <p:cNvSpPr txBox="1"/>
          <p:nvPr/>
        </p:nvSpPr>
        <p:spPr>
          <a:xfrm>
            <a:off x="685800" y="4681728"/>
            <a:ext cx="11036808" cy="306324"/>
          </a:xfrm>
          <a:prstGeom prst="rect">
            <a:avLst/>
          </a:prstGeom>
          <a:noFill/>
          <a:ln/>
        </p:spPr>
        <p:txBody>
          <a:bodyPr wrap="square" lIns="0" tIns="0" rIns="0" bIns="0" rtlCol="0" anchor="t"/>
          <a:lstStyle/>
          <a:p>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Ba công cụ dùng chung agent harness và cấu hình </a:t>
            </a:r>
            <a:pPr algn="l" indent="0" marL="0">
              <a:lnSpc>
                <a:spcPct val="130000"/>
              </a:lnSpc>
              <a:buNone/>
            </a:pPr>
            <a:r>
              <a:rPr lang="en-US" sz="1060" dirty="0">
                <a:solidFill>
                  <a:srgbClr val="6B7489"/>
                </a:solidFill>
                <a:latin typeface="Courier New" pitchFamily="34" charset="0"/>
                <a:ea typeface="Courier New" pitchFamily="34" charset="-122"/>
                <a:cs typeface="Courier New" pitchFamily="34" charset="-120"/>
              </a:rPr>
              <a:t>.kiro</a:t>
            </a:r>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 spec, steering, skill tạo ở một nơi dùng được ở nơi khác.</a:t>
            </a:r>
            <a:endParaRPr lang="en-US" sz="1200" dirty="0"/>
          </a:p>
        </p:txBody>
      </p:sp>
      <p:sp>
        <p:nvSpPr>
          <p:cNvPr id="6" name="Text 3"/>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Nguồn: kiro.dev/ide; kiro.dev/cli; kiro.dev/crew; kiro.dev/blog/introducing-kiro-crew; SD Times "Amazon launches spec-driven AI IDE, Kiro"</a:t>
            </a:r>
            <a:endParaRPr lang="en-US" sz="940" dirty="0"/>
          </a:p>
        </p:txBody>
      </p:sp>
      <p:sp>
        <p:nvSpPr>
          <p:cNvPr id="7" name="Text 4"/>
          <p:cNvSpPr txBox="1"/>
          <p:nvPr/>
        </p:nvSpPr>
        <p:spPr>
          <a:xfrm>
            <a:off x="10513771" y="6515100"/>
            <a:ext cx="101224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28 / 30</a:t>
            </a:r>
            <a:endParaRPr lang="en-US" sz="9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Demo</a:t>
            </a:r>
            <a:endParaRPr lang="en-US" sz="2550" dirty="0"/>
          </a:p>
        </p:txBody>
      </p:sp>
      <p:sp>
        <p:nvSpPr>
          <p:cNvPr id="3" name="Text 1"/>
          <p:cNvSpPr txBox="1"/>
          <p:nvPr/>
        </p:nvSpPr>
        <p:spPr>
          <a:xfrm>
            <a:off x="685800" y="1150315"/>
            <a:ext cx="11036808" cy="1985162"/>
          </a:xfrm>
          <a:prstGeom prst="rect">
            <a:avLst/>
          </a:prstGeom>
          <a:noFill/>
          <a:ln/>
        </p:spPr>
        <p:txBody>
          <a:bodyPr wrap="square" lIns="0" tIns="0" rIns="0" bIns="0" rtlCol="0" anchor="t"/>
          <a:lstStyle/>
          <a:p>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Amazon Quick: tạo Space từ vài tài liệu, hỏi đáp; chạy Research; tạo một flow bằng mô tả.</a:t>
            </a:r>
            <a:endParaRPr lang="en-US" sz="1430" dirty="0"/>
          </a:p>
          <a:p>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Kiro IDE: tạo spec cho một API nhỏ, xem requirements.md, duyệt, sang design và tasks, chạy một task.</a:t>
            </a:r>
            <a:endParaRPr lang="en-US" sz="1430" dirty="0"/>
          </a:p>
          <a:p>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Steering và hook: sửa một file Resource, xem docs/API.md được cập nhật.</a:t>
            </a:r>
            <a:endParaRPr lang="en-US" sz="1430" dirty="0"/>
          </a:p>
          <a:p>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Kiro CLI: mở lại spec vừa tạo bằng </a:t>
            </a:r>
            <a:pPr algn="l" marL="228600" indent="-228600">
              <a:lnSpc>
                <a:spcPct val="113000"/>
              </a:lnSpc>
              <a:spcAft>
                <a:spcPts val="600"/>
              </a:spcAft>
              <a:buSzPct val="100000"/>
              <a:buFont typeface="+mj-lt"/>
              <a:buAutoNum type="arabicPeriod" startAt="1"/>
            </a:pPr>
            <a:r>
              <a:rPr lang="en-US" sz="1250" dirty="0">
                <a:solidFill>
                  <a:srgbClr val="3D4659"/>
                </a:solidFill>
                <a:latin typeface="Courier New" pitchFamily="34" charset="0"/>
                <a:ea typeface="Courier New" pitchFamily="34" charset="-122"/>
                <a:cs typeface="Courier New" pitchFamily="34" charset="-120"/>
              </a:rPr>
              <a:t>kiro-cli chat</a:t>
            </a:r>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a:t>
            </a:r>
            <a:endParaRPr lang="en-US" sz="1430" dirty="0"/>
          </a:p>
          <a:p>
            <a:pPr algn="l" marL="228600" indent="-228600">
              <a:lnSpc>
                <a:spcPct val="113000"/>
              </a:lnSpc>
              <a:spcAft>
                <a:spcPts val="600"/>
              </a:spcAft>
              <a:buSzPct val="100000"/>
              <a:buFont typeface="+mj-lt"/>
              <a:buAutoNum type="arabicPeriod" startAt="1"/>
            </a:pPr>
            <a:r>
              <a:rPr lang="en-US" sz="1430" dirty="0">
                <a:solidFill>
                  <a:srgbClr val="3D4659"/>
                </a:solidFill>
                <a:latin typeface="Arial" pitchFamily="34" charset="0"/>
                <a:ea typeface="Arial" pitchFamily="34" charset="-122"/>
                <a:cs typeface="Arial" pitchFamily="34" charset="-120"/>
              </a:rPr>
              <a:t>Kiro Crew: ghi một lesson, giao hai việc song song, xem màn hình Activity, tạo một cron job.</a:t>
            </a:r>
            <a:endParaRPr lang="en-US" sz="1430" dirty="0"/>
          </a:p>
        </p:txBody>
      </p:sp>
      <p:sp>
        <p:nvSpPr>
          <p:cNvPr id="4" name="Text 2"/>
          <p:cNvSpPr txBox="1"/>
          <p:nvPr/>
        </p:nvSpPr>
        <p:spPr>
          <a:xfrm>
            <a:off x="685800" y="3041294"/>
            <a:ext cx="11036808" cy="294437"/>
          </a:xfrm>
          <a:prstGeom prst="rect">
            <a:avLst/>
          </a:prstGeom>
          <a:noFill/>
          <a:ln/>
        </p:spPr>
        <p:txBody>
          <a:bodyPr wrap="square" lIns="0" tIns="0" rIns="0" bIns="0" rtlCol="0" anchor="t"/>
          <a:lstStyle/>
          <a:p>
            <a:pPr algn="l" indent="0" marL="0">
              <a:lnSpc>
                <a:spcPct val="130000"/>
              </a:lnSpc>
              <a:buNone/>
            </a:pPr>
            <a:r>
              <a:rPr lang="en-US" sz="1200" dirty="0">
                <a:solidFill>
                  <a:srgbClr val="6B7489"/>
                </a:solidFill>
                <a:latin typeface="Arial" pitchFamily="34" charset="0"/>
                <a:ea typeface="Arial" pitchFamily="34" charset="-122"/>
                <a:cs typeface="Arial" pitchFamily="34" charset="-120"/>
              </a:rPr>
              <a:t>Kịch bản chi tiết và file mẫu: higa.pages.dev/work/ và higa.pages.dev/demo/aws-kiro-quick/</a:t>
            </a:r>
            <a:endParaRPr lang="en-US" sz="1200" dirty="0"/>
          </a:p>
        </p:txBody>
      </p:sp>
      <p:sp>
        <p:nvSpPr>
          <p:cNvPr id="5" name="Text 3"/>
          <p:cNvSpPr txBox="1"/>
          <p:nvPr/>
        </p:nvSpPr>
        <p:spPr>
          <a:xfrm>
            <a:off x="10513771" y="6515100"/>
            <a:ext cx="1012241"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29 / 30</a:t>
            </a:r>
            <a:endParaRPr lang="en-US" sz="9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8795"/>
            <a:ext cx="11036808" cy="622706"/>
          </a:xfrm>
          <a:prstGeom prst="rect">
            <a:avLst/>
          </a:prstGeom>
          <a:noFill/>
          <a:ln/>
        </p:spPr>
        <p:txBody>
          <a:bodyPr wrap="square" lIns="0" tIns="0" rIns="0" bIns="0" rtlCol="0" anchor="t"/>
          <a:lstStyle/>
          <a:p>
            <a:pPr algn="l" indent="0" marL="0">
              <a:lnSpc>
                <a:spcPct val="104000"/>
              </a:lnSpc>
              <a:buNone/>
            </a:pPr>
            <a:r>
              <a:rPr lang="en-US" sz="2550" b="1" dirty="0">
                <a:solidFill>
                  <a:srgbClr val="1D2433"/>
                </a:solidFill>
                <a:latin typeface="Arial" pitchFamily="34" charset="0"/>
                <a:ea typeface="Arial" pitchFamily="34" charset="-122"/>
                <a:cs typeface="Arial" pitchFamily="34" charset="-120"/>
              </a:rPr>
              <a:t>Tài liệu tham khảo</a:t>
            </a:r>
            <a:endParaRPr lang="en-US" sz="2550" dirty="0"/>
          </a:p>
        </p:txBody>
      </p:sp>
      <p:sp>
        <p:nvSpPr>
          <p:cNvPr id="3" name="Text 1"/>
          <p:cNvSpPr txBox="1"/>
          <p:nvPr/>
        </p:nvSpPr>
        <p:spPr>
          <a:xfrm>
            <a:off x="685800" y="1150315"/>
            <a:ext cx="5343754" cy="294437"/>
          </a:xfrm>
          <a:prstGeom prst="rect">
            <a:avLst/>
          </a:prstGeom>
          <a:noFill/>
          <a:ln/>
        </p:spPr>
        <p:txBody>
          <a:bodyPr wrap="square" lIns="0" tIns="0" rIns="0" bIns="0" rtlCol="0" anchor="t"/>
          <a:lstStyle/>
          <a:p>
            <a:pPr algn="l" indent="0" marL="0">
              <a:lnSpc>
                <a:spcPct val="104000"/>
              </a:lnSpc>
              <a:buNone/>
            </a:pPr>
            <a:r>
              <a:rPr lang="en-US" sz="1500" b="1" dirty="0">
                <a:solidFill>
                  <a:srgbClr val="1D2433"/>
                </a:solidFill>
                <a:latin typeface="Arial" pitchFamily="34" charset="0"/>
                <a:ea typeface="Arial" pitchFamily="34" charset="-122"/>
                <a:cs typeface="Arial" pitchFamily="34" charset="-120"/>
              </a:rPr>
              <a:t>Amazon Quick</a:t>
            </a:r>
            <a:endParaRPr lang="en-US" sz="1500" dirty="0"/>
          </a:p>
        </p:txBody>
      </p:sp>
      <p:sp>
        <p:nvSpPr>
          <p:cNvPr id="4" name="Text 2"/>
          <p:cNvSpPr txBox="1"/>
          <p:nvPr/>
        </p:nvSpPr>
        <p:spPr>
          <a:xfrm>
            <a:off x="685800" y="1455725"/>
            <a:ext cx="5343754" cy="2384755"/>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aws.amazon.com/blogs/aws/reimagine-the-way-you-work-with-ai-agents-in-amazon-quick-suite</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aws.amazon.com/quick/faqs, aws.amazon.com/quick/pricing</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aws.amazon.com/quick/research, aws.amazon.com/quick/index</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docs.aws.amazon.com/quick/latest/userguide</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aws.amazon.com/about-aws/whats-new/2026/09/amazon-quick-always-on-agents-sharper-feed-enterprise-controls</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aboutamazon.com/news/aws/amazon-quick-suite-agentic-ai-aws-work</a:t>
            </a:r>
            <a:endParaRPr lang="en-US" sz="1130" dirty="0"/>
          </a:p>
        </p:txBody>
      </p:sp>
      <p:sp>
        <p:nvSpPr>
          <p:cNvPr id="5" name="Text 3"/>
          <p:cNvSpPr txBox="1"/>
          <p:nvPr/>
        </p:nvSpPr>
        <p:spPr>
          <a:xfrm>
            <a:off x="6267298" y="1150315"/>
            <a:ext cx="5343754" cy="294437"/>
          </a:xfrm>
          <a:prstGeom prst="rect">
            <a:avLst/>
          </a:prstGeom>
          <a:noFill/>
          <a:ln/>
        </p:spPr>
        <p:txBody>
          <a:bodyPr wrap="square" lIns="0" tIns="0" rIns="0" bIns="0" rtlCol="0" anchor="t"/>
          <a:lstStyle/>
          <a:p>
            <a:pPr algn="l" indent="0" marL="0">
              <a:lnSpc>
                <a:spcPct val="104000"/>
              </a:lnSpc>
              <a:buNone/>
            </a:pPr>
            <a:r>
              <a:rPr lang="en-US" sz="1500" b="1" dirty="0">
                <a:solidFill>
                  <a:srgbClr val="1D2433"/>
                </a:solidFill>
                <a:latin typeface="Arial" pitchFamily="34" charset="0"/>
                <a:ea typeface="Arial" pitchFamily="34" charset="-122"/>
                <a:cs typeface="Arial" pitchFamily="34" charset="-120"/>
              </a:rPr>
              <a:t>Kiro</a:t>
            </a:r>
            <a:endParaRPr lang="en-US" sz="1500" dirty="0"/>
          </a:p>
        </p:txBody>
      </p:sp>
      <p:sp>
        <p:nvSpPr>
          <p:cNvPr id="6" name="Text 4"/>
          <p:cNvSpPr txBox="1"/>
          <p:nvPr/>
        </p:nvSpPr>
        <p:spPr>
          <a:xfrm>
            <a:off x="6267298" y="1455725"/>
            <a:ext cx="5343754" cy="1904695"/>
          </a:xfrm>
          <a:prstGeom prst="rect">
            <a:avLst/>
          </a:prstGeom>
          <a:noFill/>
          <a:ln/>
        </p:spPr>
        <p:txBody>
          <a:bodyPr wrap="square" lIns="0" tIns="0" rIns="0" bIns="0" rtlCol="0" anchor="t"/>
          <a:lstStyle/>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kiro.dev/ide, kiro.dev/crew</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kiro.dev/docs/specs, kiro.dev/docs/steering, kiro.dev/docs/hooks</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kiro.dev/docs/cli/v3, kiro.dev/docs/models</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kiro.dev/blog/introducing-kiro-crew</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kiro.dev/docs/crew/features/cron</a:t>
            </a:r>
            <a:endParaRPr lang="en-US" sz="1130" dirty="0"/>
          </a:p>
          <a:p>
            <a:pPr algn="l" marL="177800" indent="-177800">
              <a:lnSpc>
                <a:spcPct val="113000"/>
              </a:lnSpc>
              <a:spcAft>
                <a:spcPts val="600"/>
              </a:spcAft>
              <a:buSzPct val="100000"/>
              <a:buChar char="•"/>
            </a:pPr>
            <a:r>
              <a:rPr lang="en-US" sz="1130" dirty="0">
                <a:solidFill>
                  <a:srgbClr val="3D4659"/>
                </a:solidFill>
                <a:latin typeface="Arial" pitchFamily="34" charset="0"/>
                <a:ea typeface="Arial" pitchFamily="34" charset="-122"/>
                <a:cs typeface="Arial" pitchFamily="34" charset="-120"/>
              </a:rPr>
              <a:t>github.com/kirodotdev/KiroCrew</a:t>
            </a:r>
            <a:endParaRPr lang="en-US" sz="1130" dirty="0"/>
          </a:p>
        </p:txBody>
      </p:sp>
      <p:sp>
        <p:nvSpPr>
          <p:cNvPr id="7" name="Text 5"/>
          <p:cNvSpPr txBox="1"/>
          <p:nvPr/>
        </p:nvSpPr>
        <p:spPr>
          <a:xfrm>
            <a:off x="685800" y="6500470"/>
            <a:ext cx="10376611" cy="224942"/>
          </a:xfrm>
          <a:prstGeom prst="rect">
            <a:avLst/>
          </a:prstGeom>
          <a:noFill/>
          <a:ln/>
        </p:spPr>
        <p:txBody>
          <a:bodyPr wrap="square" lIns="0" tIns="0" rIns="0" bIns="0" rtlCol="0" anchor="t"/>
          <a:lstStyle/>
          <a:p>
            <a:pPr algn="l" indent="0" marL="0">
              <a:lnSpc>
                <a:spcPct val="122000"/>
              </a:lnSpc>
              <a:buNone/>
            </a:pPr>
            <a:r>
              <a:rPr lang="en-US" sz="940" dirty="0">
                <a:solidFill>
                  <a:srgbClr val="6B7489"/>
                </a:solidFill>
                <a:latin typeface="Arial" pitchFamily="34" charset="0"/>
                <a:ea typeface="Arial" pitchFamily="34" charset="-122"/>
                <a:cs typeface="Arial" pitchFamily="34" charset="-120"/>
              </a:rPr>
              <a:t>Ảnh chụp màn hình thuộc AWS và Kiro, dùng cho mục đích giới thiệu nội bộ.</a:t>
            </a:r>
            <a:endParaRPr lang="en-US" sz="940" dirty="0"/>
          </a:p>
        </p:txBody>
      </p:sp>
      <p:sp>
        <p:nvSpPr>
          <p:cNvPr id="8" name="Text 6"/>
          <p:cNvSpPr txBox="1"/>
          <p:nvPr/>
        </p:nvSpPr>
        <p:spPr>
          <a:xfrm>
            <a:off x="10511028" y="6515100"/>
            <a:ext cx="1014984" cy="208483"/>
          </a:xfrm>
          <a:prstGeom prst="rect">
            <a:avLst/>
          </a:prstGeom>
          <a:noFill/>
          <a:ln/>
        </p:spPr>
        <p:txBody>
          <a:bodyPr wrap="square" lIns="0" tIns="0" rIns="0" bIns="0" rtlCol="0" anchor="t"/>
          <a:lstStyle/>
          <a:p>
            <a:pPr algn="r" indent="0" marL="0">
              <a:lnSpc>
                <a:spcPct val="104000"/>
              </a:lnSpc>
              <a:buNone/>
            </a:pPr>
            <a:r>
              <a:rPr lang="en-US" sz="980" dirty="0">
                <a:solidFill>
                  <a:srgbClr val="6B7489"/>
                </a:solidFill>
                <a:latin typeface="Arial" pitchFamily="34" charset="0"/>
                <a:ea typeface="Arial" pitchFamily="34" charset="-122"/>
                <a:cs typeface="Arial" pitchFamily="34" charset="-120"/>
              </a:rPr>
              <a:t>30 / 30</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CloudNexus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Quick và Kiro</dc:title>
  <dc:subject>PptxGenJS Presentation</dc:subject>
  <dc:creator>CloudNexus</dc:creator>
  <cp:lastModifiedBy>CloudNexus</cp:lastModifiedBy>
  <cp:revision>1</cp:revision>
  <dcterms:created xsi:type="dcterms:W3CDTF">2026-10-25T01:20:55Z</dcterms:created>
  <dcterms:modified xsi:type="dcterms:W3CDTF">2026-10-25T01:20:55Z</dcterms:modified>
</cp:coreProperties>
</file>